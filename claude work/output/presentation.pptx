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21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Impact of AI Adoption on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Scientific Surprise in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Academic Research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 &amp;  Adam Tuchler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Chicago  |  March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9728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09728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AI adoption causally increase the disciplinary breadth of academic citations?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with continuous treatment across 16 academic fields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intensity: GPT-3.5 marker word adoption (Kobak et al.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event: Release of GPT-4o (November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Shannon entropy of citation field distributions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35,080 papers from OpenAlex (May 2023 – Dec 2025)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51560"/>
          </a:xfrm>
          <a:prstGeom prst="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(2026, Nature)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contracts knowledge extent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5331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AI-augmented papers across 41M articles. Finds AI use reduces the "diameter" of knowledge covered. Focuses on AI as a research method, not LLM-assisted writing specifically.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8046720" cy="1051560"/>
          </a:xfrm>
          <a:prstGeom prst="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Algaba et al. (2025, NAACL)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mirror &amp; amplify citation bias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54203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275K AI-suggested references. LLMs reflect human citation patterns but with a heightened Matthew effect — systematically favoring already highly-cited, high-profile work. Studies what LLMs recommend, not what researchers actually do.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383280"/>
            <a:ext cx="8046720" cy="1051560"/>
          </a:xfrm>
          <a:prstGeom prst="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Kusumegi et al. (2025, Science)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3429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boost output, broaden citations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373075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on 2.1M preprints. LLM adopters produce 24–89% more papers and cite more diverse sources (books, younger works). However, research quality declines — sophisticated language masks weaker manuscripts.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8046720" cy="457200"/>
          </a:xfrm>
          <a:prstGeom prst="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contribution: causal identification of how LLM availability affects cross-field citation entropy using continuous treatment intensity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AI Adoption: Propensity Scores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Kobak marker word frequency from pre- to post-ChatGPT (GPT-3.5) era</a:t>
            </a:r>
            <a:endParaRPr lang="en-US" sz="1200" dirty="0"/>
          </a:p>
        </p:txBody>
      </p:sp>
      <p:pic>
        <p:nvPicPr>
          <p:cNvPr id="4" name="Image 0" descr="/sessions/zen-sweet-johnson/mnt/aig-final-project/claude work/output/shannon-figures/fig01_propensity_sco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Marker Word Adoption Across Fields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fields show increases after ChatGPT release, but magnitude varies substantially</a:t>
            </a:r>
            <a:endParaRPr lang="en-US" sz="1200" dirty="0"/>
          </a:p>
        </p:txBody>
      </p:sp>
      <p:pic>
        <p:nvPicPr>
          <p:cNvPr id="4" name="Image 0" descr="/sessions/zen-sweet-johnson/mnt/aig-final-project/claude work/output/shannon-figures/fig02_marker_words_pre_p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Research Entropy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1051560"/>
            <a:ext cx="6400800" cy="914400"/>
          </a:xfrm>
          <a:prstGeom prst="rect">
            <a:avLst>
              <a:gd name="adj" fmla="val 5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0515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Hᵢ = – Σ  pᵢ(g) · ln pᵢ(g)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371600" y="15544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pᵢ(g) = share of paper i's references classified in field 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captures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paper, we observe where its references land across 26 OpenAlex fields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measures how spread out that distribution is — capturing both breadth and evenness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citations in one field  →  H = 0 nats (minimum diversity)</a:t>
            </a: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citations across all 26 fields  →  H = ln(26) ≈ 3.26 nats (maximum diversity)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Shannon entropy?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a simple count of distinct fields, entropy penalizes token citations — a paper citing 95% within its own field and 1% in five others scores much lower than one engaging evenly across six fields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pic>
        <p:nvPicPr>
          <p:cNvPr id="4" name="Image 0" descr="/sessions/zen-sweet-johnson/mnt/aig-final-project/claude work/output/shannon-figures/fig03_entropy_time_seri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 Results: Shannon Entropy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Yᵢ = α + β₁(A_f × D_t) + β₂(A_f × T_t) + γ′X + δ_f + θ_t + ε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1234440"/>
          <a:ext cx="69494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(1) 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(2) Trend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A_f × D_t  (β₁)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566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(0.068)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566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(0.106)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A_f × T_t  (β₂)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0.031***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566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(0.012)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Num. authors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Distinct institutions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–0.000***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–0.000***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Distinct countries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Year-month 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97280" y="470916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 robust standard errors in parentheses.  *** p &lt; 0.01, ** p &lt; 0.05, * p &lt; 0.10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1097280" y="4160520"/>
            <a:ext cx="6949440" cy="457200"/>
          </a:xfrm>
          <a:prstGeom prst="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1280160" y="416052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(1): significant level shift.  Column (2): level shift absorbed by gradual trend — consistent with AI diffusion, not an instantaneous shock.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 Study: Treatment Effect Emerges Post-4o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× quarter interactions with 2024 Q3 as reference period</a:t>
            </a:r>
            <a:endParaRPr lang="en-US" sz="1200" dirty="0"/>
          </a:p>
        </p:txBody>
      </p:sp>
      <p:pic>
        <p:nvPicPr>
          <p:cNvPr id="4" name="Image 0" descr="/sessions/zen-sweet-johnson/mnt/aig-final-project/claude work/output/shannon-figures/fig04_event_study_entrop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Consistent Pattern Across Diversity Measures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coefficients for all 7 dependent variables (95% CIs)</a:t>
            </a:r>
            <a:endParaRPr lang="en-US" sz="1200" dirty="0"/>
          </a:p>
        </p:txBody>
      </p:sp>
      <p:pic>
        <p:nvPicPr>
          <p:cNvPr id="4" name="Image 0" descr="/sessions/zen-sweet-johnson/mnt/aig-final-project/claude work/output/shannon-figures/fig09_forest_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Robustness: Parallel Trends &amp; Within-Field Share</a:t>
            </a:r>
            <a:endParaRPr lang="en-US" sz="2400" dirty="0"/>
          </a:p>
        </p:txBody>
      </p:sp>
      <p:pic>
        <p:nvPicPr>
          <p:cNvPr id="3" name="Image 0" descr="/sessions/zen-sweet-johnson/mnt/aig-final-project/claude work/output/shannon-figures/fig10_parallel_tre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1005840"/>
            <a:ext cx="4114800" cy="2834640"/>
          </a:xfrm>
          <a:prstGeom prst="rect">
            <a:avLst/>
          </a:prstGeom>
        </p:spPr>
      </p:pic>
      <p:pic>
        <p:nvPicPr>
          <p:cNvPr id="4" name="Image 1" descr="/sessions/zen-sweet-johnson/mnt/aig-final-project/claude work/output/shannon-figures/fig08_within_field_shar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005840"/>
            <a:ext cx="4114800" cy="2834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8288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trends pass (p = 0.56) in 18-month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pre-period with field FE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484632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Within-field citation share declines faster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high-propensity fields post-4o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Cross-Sectional Validation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higher AI propensity saw larger increases in citation diversity (r = 0.603)</a:t>
            </a:r>
            <a:endParaRPr lang="en-US" sz="1200" dirty="0"/>
          </a:p>
        </p:txBody>
      </p:sp>
      <p:pic>
        <p:nvPicPr>
          <p:cNvPr id="4" name="Image 0" descr="/sessions/zen-sweet-johnson/mnt/aig-final-project/claude work/output/shannon-figures/fig07_field_scat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188720"/>
            <a:ext cx="731520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adoption may not predict GPT-4o adoption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44475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scores capture structural field-level receptivity to LLM assistance, not adoption of a specific model. Measured during a pre-gaming period when there was no reputational cost to AI-influenced writing.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2860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LLM releases confound the GPT-4o effect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63347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Gemini, and Llama improved over the same period. Our estimand is best interpreted as the effect of crossing a broad AI accessibility threshold — GPT-4o was the first frontier model available for free — not the effect of one product.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474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reflects field structure, not individual behavior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822192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distinguish whether high-propensity fields adopt LLMs because of structural workflow amenability or because of demographic composition (e.g., younger, more tech-savvy researchers). Field FE absorb level differences, but the interaction could still reflect composition.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diversification is causal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increases by +0.030 nats/month in high-propensity fields post-4o (p = 0.006)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3063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measures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3832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Entropy, distinct fields cited, HHI, and within-field share all point the same direction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0233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9776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Complements existing literature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2976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(2026) find AI contracts topic diversity; we find it expands citation breadth — different margins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  |  bheim@uchicago.edu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 i="0">
                <a:solidFill>
                  <a:srgbClr val="1E2761"/>
                </a:solidFill>
                <a:latin typeface="Georgia"/>
              </a:defRPr>
            </a:pPr>
            <a:r>
              <a:t>Future Work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Do cross-disciplinary citations produce lasting impact?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444752"/>
            <a:ext cx="7406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t>Track forward citations, disruption indices (CD₅), and knowledge persistence of AI-era papers over 3–5 years. Tests whether the entropy increase we document translates into genuine knowledge integration or superficial breadth — directly engaging Hao et al.’s knowledge contraction and Kusumegi et al.’s quality decline findings.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377440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Individual-level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7406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t>Move from field-level to author-level treatment using individual writing style shifts as a proxy for personal LLM adoption. Would allow researcher fixed effects and sharper identification of who drives the entropy increase.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66160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66160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Disentangle the mechanism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913632"/>
            <a:ext cx="7406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t>Are researchers discovering new literatures through LLM suggestions (Algaba’s channel), or does LLM-assisted writing lower the cost of integrating sources they already knew about? Experimental or survey-based designs could separate these pathways.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Impact of AI Adoption on Scientific Surprise in Academic Research</dc:title>
  <dc:subject>PptxGenJS Presentation</dc:subject>
  <dc:creator>Ben Heim &amp; Adam Tuchler</dc:creator>
  <cp:lastModifiedBy>Ben Heim &amp; Adam Tuchler</cp:lastModifiedBy>
  <cp:revision>1</cp:revision>
  <dcterms:created xsi:type="dcterms:W3CDTF">2026-03-11T18:33:26Z</dcterms:created>
  <dcterms:modified xsi:type="dcterms:W3CDTF">2026-03-11T18:33:26Z</dcterms:modified>
</cp:coreProperties>
</file>