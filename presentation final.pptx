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79" r:id="rId4"/>
    <p:sldId id="280" r:id="rId5"/>
    <p:sldId id="288" r:id="rId6"/>
    <p:sldId id="271" r:id="rId7"/>
    <p:sldId id="258" r:id="rId8"/>
    <p:sldId id="259" r:id="rId9"/>
    <p:sldId id="289" r:id="rId10"/>
    <p:sldId id="266" r:id="rId11"/>
    <p:sldId id="260" r:id="rId12"/>
    <p:sldId id="283" r:id="rId13"/>
    <p:sldId id="268" r:id="rId14"/>
    <p:sldId id="263" r:id="rId15"/>
    <p:sldId id="286" r:id="rId16"/>
    <p:sldId id="264" r:id="rId17"/>
    <p:sldId id="282" r:id="rId18"/>
    <p:sldId id="284" r:id="rId19"/>
    <p:sldId id="265" r:id="rId20"/>
    <p:sldId id="276" r:id="rId21"/>
    <p:sldId id="278" r:id="rId22"/>
    <p:sldId id="277" r:id="rId23"/>
    <p:sldId id="270" r:id="rId24"/>
    <p:sldId id="285" r:id="rId25"/>
    <p:sldId id="287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2"/>
    <p:restoredTop sz="75238"/>
  </p:normalViewPr>
  <p:slideViewPr>
    <p:cSldViewPr snapToGrid="0" snapToObjects="1">
      <p:cViewPr varScale="1">
        <p:scale>
          <a:sx n="126" d="100"/>
          <a:sy n="126" d="100"/>
        </p:scale>
        <p:origin x="21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66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Ben</a:t>
            </a:r>
          </a:p>
          <a:p>
            <a:endParaRPr dirty="0"/>
          </a:p>
          <a:p>
            <a:r>
              <a:rPr dirty="0"/>
              <a:t>Three key papers set the stage for our work. Hao et al. find AI contracts the breadth of knowledge in papers. </a:t>
            </a:r>
            <a:r>
              <a:rPr dirty="0" err="1"/>
              <a:t>Algaba</a:t>
            </a:r>
            <a:r>
              <a:rPr dirty="0"/>
              <a:t> et al. show LLMs amplify existing citation biases — favoring already-popular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A51E4-C0A7-DCD2-79A6-AB11CC929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CFB11-0883-A181-AD81-8F0B3D1E8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66912A-54A5-3C0B-8353-5A3145DE5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Ben</a:t>
            </a:r>
          </a:p>
          <a:p>
            <a:endParaRPr dirty="0"/>
          </a:p>
          <a:p>
            <a:r>
              <a:rPr dirty="0" err="1"/>
              <a:t>Kusumegi</a:t>
            </a:r>
            <a:r>
              <a:rPr dirty="0"/>
              <a:t> et al. use diff-in-diff like us and find LLM adopters cite more diversely, but paper quality declines. Our contribution is causal identification of how LLM </a:t>
            </a:r>
            <a:r>
              <a:t>a</a:t>
            </a:r>
            <a:r>
              <a:rPr lang="en-US"/>
              <a:t>doption </a:t>
            </a:r>
            <a:r>
              <a:t>affects </a:t>
            </a:r>
            <a:r>
              <a:rPr dirty="0"/>
              <a:t>cross-field citation entropy specifically, using continuous treatment intensity.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4A9AF-0955-3F10-0A17-0607B8264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18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0D6A-0E97-4AA7-8728-36AD0F03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8DDE9-2EC1-2DE1-E03D-0A30DB560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39466-7ACE-6542-C57E-5A9BCFABB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</a:t>
            </a:r>
          </a:p>
          <a:p>
            <a:endParaRPr/>
          </a:p>
          <a:p>
            <a:r>
              <a:t>Kusumegi et al. use diff-in-diff like us and find LLM adopters cite more diversely, but paper quality declines. Our contribution is causal identification of how LLM availability affects cross-field citation entropy specifically, using continuous treatment intensity.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3A217-14E4-399D-3F9B-788075125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83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0D725-BA86-989C-869E-57758320A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C6E73-1101-694E-C06E-89B542990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33531-D850-1565-7ABD-2FE8162E4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</a:t>
            </a:r>
          </a:p>
          <a:p>
            <a:endParaRPr/>
          </a:p>
          <a:p>
            <a:r>
              <a:t>Why GPT-4o? It was the first time a frontier-quality model was available to every researcher for free — no paywall. Competitors offered free tiers, but those ran weaker models. 4o marks a clean break in accessibility.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9A1A7-4A1B-C61E-202B-17850A7F2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57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BB5E-0CF3-B26C-28AB-49CC1E6B1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34897-D438-1B38-FAAB-C3C206B93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B35C4-4D0B-65D3-B701-2DC85E30F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5A88A-28EC-8FB5-9569-10A2C99C8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67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913B-F9CF-8391-3DD9-FC3A3A6D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EEF30-1D37-7882-51B2-3B7D47673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D5654-8E85-3817-E911-14F16C660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Ben</a:t>
            </a:r>
          </a:p>
          <a:p>
            <a:endParaRPr dirty="0"/>
          </a:p>
          <a:p>
            <a:r>
              <a:rPr lang="en-US" dirty="0"/>
              <a:t>Our outcome measure is </a:t>
            </a:r>
            <a:r>
              <a:rPr lang="en-US" dirty="0" err="1"/>
              <a:t>s</a:t>
            </a:r>
            <a:r>
              <a:rPr dirty="0" err="1"/>
              <a:t>hannon</a:t>
            </a:r>
            <a:r>
              <a:rPr dirty="0"/>
              <a:t> entropy captures how evenly a paper spreads its citations across 26 academic fields. Zero means all citations in one field. The maximum, log 26, means perfectly even</a:t>
            </a:r>
            <a:r>
              <a:rPr lang="en-US" dirty="0"/>
              <a:t> across all fields.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4A031-ACEE-7A5A-EA2B-ACC372D5D3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46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</a:t>
            </a:r>
          </a:p>
          <a:p>
            <a:endParaRPr/>
          </a:p>
          <a:p>
            <a:r>
              <a:t>Here's the main result. After GPT-4o, fields with higher AI propensity — meaning they adopted GPT-3.5 language more heavily — show a steeper increase in citation entropy.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C2C6C-FF9C-AB62-9058-330FCA985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3850A-3CC4-588E-C3F4-5365A7124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E1E34-1B3A-4EEC-5409-2DE8CC225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Ben</a:t>
            </a:r>
          </a:p>
          <a:p>
            <a:endParaRPr dirty="0"/>
          </a:p>
          <a:p>
            <a:r>
              <a:rPr dirty="0"/>
              <a:t>The divergence is clear and grows over time, which is consistent with gradual diffusion of LLM use rather than an overnight shock. This motivates the trend specification in our regression</a:t>
            </a:r>
            <a:r>
              <a:rPr lang="en-US" dirty="0"/>
              <a:t> which Adam will share more about.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DE75A-92C1-C8E7-EFED-2B67E058F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47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B7D81-F787-7523-9152-98FF5D6BC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147AA-0285-02DA-EBE7-26A3C8BCA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C2A48-2D29-07D7-5C9C-C1275BE9A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0817C-785D-4BE2-18C4-AAD6142934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518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92D23-F66A-A10B-6212-B21FCA327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CC08E-D4D6-3279-7DC0-2FF7A9649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724FB-D7AC-8C11-4480-070BCE0F3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1009D-C13C-7EEE-5442-CE78F9E451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25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0251F-770F-7B09-803D-4E22A488B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62BA0-880A-00CF-B278-46F860AE3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DF587-D57F-D28E-7E7D-C66643D6E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2353C-55BA-849C-0556-C77C7D157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177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</a:t>
            </a:r>
          </a:p>
          <a:p>
            <a:endParaRPr/>
          </a:p>
          <a:p>
            <a:r>
              <a:t>So to wrap up — our first takeaway: LLM adoption causally increases citation diversity. The Shannon entropy increase post-4o is proportional to each field's AI propensity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B91CD-2643-34C7-1439-A405972D6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B1228-4D12-148B-6A47-1E94E8010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FB76C-A00D-CDA6-D6DF-3123EF0AB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</a:t>
            </a:r>
          </a:p>
          <a:p>
            <a:endParaRPr/>
          </a:p>
          <a:p>
            <a:r>
              <a:t>Second, the effect is gradual, not a discrete jump. The trend specification fits better than the level shift, which is what you'd expect from a technology diffusing through research workflows over months.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3317C-4864-8F77-18F7-9C373181B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263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F7CD-CD0F-41D1-33FA-444910539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48C6B-C506-CFCD-E3D7-7D578B5EB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A6FCD-9384-9E3C-2A89-77EE7D55F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Ben</a:t>
            </a:r>
          </a:p>
          <a:p>
            <a:endParaRPr dirty="0"/>
          </a:p>
          <a:p>
            <a:r>
              <a:rPr dirty="0"/>
              <a:t>Third, this isn't just one measure. Entropy, distinct fields cited, and within-field share all tell the same story — higher AI propensity fields diversify their citations more.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7004C-2500-EB38-DFB8-B658F2FE6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821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956E8-FF6C-195A-C002-2D94E53A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F981A-CCD0-20A5-8418-A489019B4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3EACC-4871-F588-8D52-150999526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Ben</a:t>
            </a:r>
          </a:p>
          <a:p>
            <a:endParaRPr dirty="0"/>
          </a:p>
          <a:p>
            <a:r>
              <a:rPr dirty="0"/>
              <a:t>And finally, our findings complement the existing literature. Hao et al. find AI contracts knowledge extent, but we find it expands citation breadth — these are different margins. More diverse citing doesn't contradict narrower topics.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48514-76A1-3F48-DD80-ADBFD70CCA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430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Adam</a:t>
            </a:r>
          </a:p>
        </p:txBody>
      </p:sp>
    </p:spTree>
    <p:extLst>
      <p:ext uri="{BB962C8B-B14F-4D97-AF65-F5344CB8AC3E}">
        <p14:creationId xmlns:p14="http://schemas.microsoft.com/office/powerpoint/2010/main" val="3323960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19798-AA54-24D2-F44F-91219CC0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F1E26-066A-10F5-76ED-72B7CBBAC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8F421-89B6-4942-CFBB-40862BDB0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Adam</a:t>
            </a:r>
          </a:p>
        </p:txBody>
      </p:sp>
    </p:spTree>
    <p:extLst>
      <p:ext uri="{BB962C8B-B14F-4D97-AF65-F5344CB8AC3E}">
        <p14:creationId xmlns:p14="http://schemas.microsoft.com/office/powerpoint/2010/main" val="41942008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A4CA-A4E3-A7BB-5F4C-A224200F7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0551F-135C-C671-2BFA-AB772DE2A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B95B4-D748-9C35-7E71-8C826AEB7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Adam</a:t>
            </a:r>
          </a:p>
        </p:txBody>
      </p:sp>
    </p:spTree>
    <p:extLst>
      <p:ext uri="{BB962C8B-B14F-4D97-AF65-F5344CB8AC3E}">
        <p14:creationId xmlns:p14="http://schemas.microsoft.com/office/powerpoint/2010/main" val="3540201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Impact of AI Adoption on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Surprise in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Research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 &amp;  Adam Tuchler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Chicago  | 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AI adoption causally increase the disciplinary breadth of academic citations?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Diff-in-diff with continuous treatment across 16 academic fields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intensity: GPT-3.5 marker word adoption (Kobak et al. 2024)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event: Release of GPT-4o (November 2024)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Shannon entropy of citation field distributions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35,080 papers from </a:t>
            </a:r>
            <a:r>
              <a:rPr lang="en-US" sz="14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(May 2023 – Dec 2025)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et al. (2026, Nature)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contracts knowledge extent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5331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AI-augmented papers across 41M articles. Finds AI use reduces the "diameter" of knowledge covered. Focuses on AI as a research method, not LLM-assisted writing specifically.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Algaba et al. (2025, NAACL)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mirror &amp; amplify citation bias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275K AI-suggested references. LLMs reflect human citation patterns but with a heightened Matthew effect — systematically favoring already highly-cited, high-profile work. Studies what LLMs recommend, not what researchers actually do.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7F8D4-07CD-D024-EB59-27CD1AC8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1A6761-54A6-1169-EC75-392D36C0A38E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Work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A2DD70-66E9-425A-2DCB-CE470A36457B}"/>
              </a:ext>
            </a:extLst>
          </p:cNvPr>
          <p:cNvSpPr/>
          <p:nvPr/>
        </p:nvSpPr>
        <p:spPr>
          <a:xfrm>
            <a:off x="548640" y="10058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2755BA-0F75-EA38-6D68-A21B447A951B}"/>
              </a:ext>
            </a:extLst>
          </p:cNvPr>
          <p:cNvSpPr/>
          <p:nvPr/>
        </p:nvSpPr>
        <p:spPr>
          <a:xfrm>
            <a:off x="77724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et al. (2026, Nature)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4ECE7B-83C2-9088-8B5F-47BA230C4BE4}"/>
              </a:ext>
            </a:extLst>
          </p:cNvPr>
          <p:cNvSpPr/>
          <p:nvPr/>
        </p:nvSpPr>
        <p:spPr>
          <a:xfrm>
            <a:off x="45720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contracts knowledge extent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442149-647D-6CEF-1C78-C5AF772A0F0E}"/>
              </a:ext>
            </a:extLst>
          </p:cNvPr>
          <p:cNvSpPr/>
          <p:nvPr/>
        </p:nvSpPr>
        <p:spPr>
          <a:xfrm>
            <a:off x="777240" y="135331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AI-augmented papers across 41M articles. Finds AI use reduces the "diameter" of knowledge covered. Focuses on AI as a research method, not LLM-assisted writing specifically.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4A7EB09-9C31-2B34-1A5D-60CA8DE73CF7}"/>
              </a:ext>
            </a:extLst>
          </p:cNvPr>
          <p:cNvSpPr/>
          <p:nvPr/>
        </p:nvSpPr>
        <p:spPr>
          <a:xfrm>
            <a:off x="548640" y="2194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79EB13A-14D5-C6B7-1F9E-36EEAC0E7DD5}"/>
              </a:ext>
            </a:extLst>
          </p:cNvPr>
          <p:cNvSpPr/>
          <p:nvPr/>
        </p:nvSpPr>
        <p:spPr>
          <a:xfrm>
            <a:off x="7772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Algaba et al. (2025, NAACL)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F324AC7-B29B-F23A-947C-AAE2BBCFCEEE}"/>
              </a:ext>
            </a:extLst>
          </p:cNvPr>
          <p:cNvSpPr/>
          <p:nvPr/>
        </p:nvSpPr>
        <p:spPr>
          <a:xfrm>
            <a:off x="457200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mirror &amp; amplify citation bias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ABD630-1FBD-D428-9A26-ED89CD406063}"/>
              </a:ext>
            </a:extLst>
          </p:cNvPr>
          <p:cNvSpPr/>
          <p:nvPr/>
        </p:nvSpPr>
        <p:spPr>
          <a:xfrm>
            <a:off x="777240" y="25420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275K AI-suggested references. LLMs reflect human citation patterns but with a heightened Matthew effect — systematically favoring already highly-cited, high-profile work. Studies what LLMs recommend, not what researchers actually do.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9F78731-344B-D7B2-CCCD-EB5833809CC4}"/>
              </a:ext>
            </a:extLst>
          </p:cNvPr>
          <p:cNvSpPr/>
          <p:nvPr/>
        </p:nvSpPr>
        <p:spPr>
          <a:xfrm>
            <a:off x="548640" y="33832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BC696C4-2AA7-67C4-5113-B8BF99878557}"/>
              </a:ext>
            </a:extLst>
          </p:cNvPr>
          <p:cNvSpPr/>
          <p:nvPr/>
        </p:nvSpPr>
        <p:spPr>
          <a:xfrm>
            <a:off x="77724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Kusumegi et al. (2025, Science)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147FFF7-1E10-728B-62A9-BBE1746C2F5E}"/>
              </a:ext>
            </a:extLst>
          </p:cNvPr>
          <p:cNvSpPr/>
          <p:nvPr/>
        </p:nvSpPr>
        <p:spPr>
          <a:xfrm>
            <a:off x="4572000" y="3429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boost output, broaden citations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C40759A-3D8C-2056-491E-744149339F97}"/>
              </a:ext>
            </a:extLst>
          </p:cNvPr>
          <p:cNvSpPr/>
          <p:nvPr/>
        </p:nvSpPr>
        <p:spPr>
          <a:xfrm>
            <a:off x="777240" y="373075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Diff-in-diff on 2.1M preprints. LLM adopters produce 24–89% more papers and cite more diverse sources (books, younger works). However, research quality declines — sophisticated language masks weaker manuscripts.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6AA1083-5CB3-807B-5FCF-D5DDBCD0E016}"/>
              </a:ext>
            </a:extLst>
          </p:cNvPr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03353B4-4A7F-4673-36F7-3711D65FFD44}"/>
              </a:ext>
            </a:extLst>
          </p:cNvPr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causal identification of how LLM adoption affects cross-field citation entropy using continuous treatment intensity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03762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63819-70A5-12A2-F3C5-FC4054968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EE2CF0-EE28-1583-25A3-BC32D14CEBA9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Work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0BB74E-CDA0-BCDA-F0FD-201510C7190A}"/>
              </a:ext>
            </a:extLst>
          </p:cNvPr>
          <p:cNvSpPr/>
          <p:nvPr/>
        </p:nvSpPr>
        <p:spPr>
          <a:xfrm>
            <a:off x="548640" y="10058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B0D8C1-C9D7-F59C-8B57-781C1951413D}"/>
              </a:ext>
            </a:extLst>
          </p:cNvPr>
          <p:cNvSpPr/>
          <p:nvPr/>
        </p:nvSpPr>
        <p:spPr>
          <a:xfrm>
            <a:off x="77724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et al. (2026, Nature)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EC0222-AD61-C1BB-B2C1-F08E9A04A14F}"/>
              </a:ext>
            </a:extLst>
          </p:cNvPr>
          <p:cNvSpPr/>
          <p:nvPr/>
        </p:nvSpPr>
        <p:spPr>
          <a:xfrm>
            <a:off x="45720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contracts knowledge extent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A774D2-B35C-3158-F0E2-EB6C38536A2F}"/>
              </a:ext>
            </a:extLst>
          </p:cNvPr>
          <p:cNvSpPr/>
          <p:nvPr/>
        </p:nvSpPr>
        <p:spPr>
          <a:xfrm>
            <a:off x="777240" y="135331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AI-augmented papers across 41M articles. Finds AI use reduces the "diameter" of knowledge covered. Focuses on AI as a research method, not LLM-assisted writing specifically.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76854F6-2536-EBDB-3BC5-2EDAD0151402}"/>
              </a:ext>
            </a:extLst>
          </p:cNvPr>
          <p:cNvSpPr/>
          <p:nvPr/>
        </p:nvSpPr>
        <p:spPr>
          <a:xfrm>
            <a:off x="548640" y="2194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48CD52C-24DA-6C05-EE49-A6A07AA1DBA0}"/>
              </a:ext>
            </a:extLst>
          </p:cNvPr>
          <p:cNvSpPr/>
          <p:nvPr/>
        </p:nvSpPr>
        <p:spPr>
          <a:xfrm>
            <a:off x="7772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Algaba et al. (2025, NAACL)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A7D7AAF-7FEA-5B80-407F-D4701572721D}"/>
              </a:ext>
            </a:extLst>
          </p:cNvPr>
          <p:cNvSpPr/>
          <p:nvPr/>
        </p:nvSpPr>
        <p:spPr>
          <a:xfrm>
            <a:off x="457200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mirror &amp; amplify citation bias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6456B8-94E1-A5DF-4A88-EE86D0C977C9}"/>
              </a:ext>
            </a:extLst>
          </p:cNvPr>
          <p:cNvSpPr/>
          <p:nvPr/>
        </p:nvSpPr>
        <p:spPr>
          <a:xfrm>
            <a:off x="777240" y="25420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275K AI-suggested references. LLMs reflect human citation patterns but with a heightened Matthew effect — systematically favoring already highly-cited, high-profile work. Studies what LLMs recommend, not what researchers actually do.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819D71F-E3C4-BF15-0A25-667A3439E44E}"/>
              </a:ext>
            </a:extLst>
          </p:cNvPr>
          <p:cNvSpPr/>
          <p:nvPr/>
        </p:nvSpPr>
        <p:spPr>
          <a:xfrm>
            <a:off x="548640" y="33832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3A958BE-E74A-7301-B4C9-94089F2E60EE}"/>
              </a:ext>
            </a:extLst>
          </p:cNvPr>
          <p:cNvSpPr/>
          <p:nvPr/>
        </p:nvSpPr>
        <p:spPr>
          <a:xfrm>
            <a:off x="77724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Kusumegi et al. (2025, Science)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61C3F4B-7B92-C4BC-CDEB-DCB56BFF0ED5}"/>
              </a:ext>
            </a:extLst>
          </p:cNvPr>
          <p:cNvSpPr/>
          <p:nvPr/>
        </p:nvSpPr>
        <p:spPr>
          <a:xfrm>
            <a:off x="4572000" y="3429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boost output, broaden citations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9B5BC79-FBA4-633D-CAE5-B7452C61D995}"/>
              </a:ext>
            </a:extLst>
          </p:cNvPr>
          <p:cNvSpPr/>
          <p:nvPr/>
        </p:nvSpPr>
        <p:spPr>
          <a:xfrm>
            <a:off x="777240" y="373075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Diff-in-diff on 2.1M preprints. LLM adopters produce 24–89% more papers and cite more diverse sources (books, younger works). However, research quality declines — sophisticated language masks weaker manuscripts.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C0873F8-7BBC-21DC-A07C-AEB88DD3E6EF}"/>
              </a:ext>
            </a:extLst>
          </p:cNvPr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9102E60-BCA5-F2A8-37EB-FED25EF57DF7}"/>
              </a:ext>
            </a:extLst>
          </p:cNvPr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causal identification of how LLM availability affects cross-field citation entropy using continuous treatment intensity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44367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37F8C-B694-6165-40F0-12ECB168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561880-7414-6C61-EF99-04515C4ED5E3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</a:rPr>
              <a:t>Why ChatGPT 4o?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984D7D-D0DE-EF90-EC8B-64E2516493FC}"/>
              </a:ext>
            </a:extLst>
          </p:cNvPr>
          <p:cNvSpPr/>
          <p:nvPr/>
        </p:nvSpPr>
        <p:spPr>
          <a:xfrm>
            <a:off x="822960" y="10972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AI adoption causally increase the disciplinary breadth of academic citations?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F4AF5-52F1-190E-84BB-3995AB931060}"/>
              </a:ext>
            </a:extLst>
          </p:cNvPr>
          <p:cNvSpPr txBox="1"/>
          <p:nvPr/>
        </p:nvSpPr>
        <p:spPr>
          <a:xfrm>
            <a:off x="5017249" y="1279087"/>
            <a:ext cx="32004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model release where frontier lab multimodal model access was available to any researcher for free.</a:t>
            </a:r>
          </a:p>
          <a:p>
            <a:endParaRPr lang="en-US" dirty="0"/>
          </a:p>
          <a:p>
            <a:r>
              <a:rPr lang="en-US" dirty="0"/>
              <a:t>Not the only model that fits these specifications but is a clean break in accessibility of high-quality models.</a:t>
            </a:r>
          </a:p>
        </p:txBody>
      </p:sp>
      <p:pic>
        <p:nvPicPr>
          <p:cNvPr id="1028" name="Picture 4" descr="OpenAI Releases World's Best AI for FREE (GPT-4o)">
            <a:extLst>
              <a:ext uri="{FF2B5EF4-FFF2-40B4-BE49-F238E27FC236}">
                <a16:creationId xmlns:a16="http://schemas.microsoft.com/office/drawing/2014/main" id="{929F69DE-C772-9C04-B41C-72FA9910E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70" y="1347936"/>
            <a:ext cx="4349930" cy="2447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81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AI Adoption: Propensity Scores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Kobak marker word frequency from pre- to post-ChatGPT (GPT-3.5) era</a:t>
            </a:r>
            <a:endParaRPr lang="en-US" sz="1200" dirty="0"/>
          </a:p>
        </p:txBody>
      </p:sp>
      <p:pic>
        <p:nvPicPr>
          <p:cNvPr id="6" name="Picture 5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7B4FDBCE-C421-9FCD-5321-9EC625DEE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72817"/>
            <a:ext cx="4256418" cy="36963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95340B-B346-65B8-3C85-2FD4298C1908}"/>
              </a:ext>
            </a:extLst>
          </p:cNvPr>
          <p:cNvSpPr txBox="1"/>
          <p:nvPr/>
        </p:nvSpPr>
        <p:spPr>
          <a:xfrm>
            <a:off x="5251269" y="1172817"/>
            <a:ext cx="351652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Kobak measure examines frequency of style words commonly associated with LLMs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 measure AI propensity by using (marker words per million 6 months after GPT 3.5 release – marker words per million before GPT 3.5 release)/(marker words per million before GPT 3.5 release)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Marker Word Adoption Increases Across Fields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fields show increases after ChatGPT release, but magnitude varies substantially</a:t>
            </a:r>
            <a:endParaRPr lang="en-US" sz="1200" dirty="0"/>
          </a:p>
        </p:txBody>
      </p:sp>
      <p:pic>
        <p:nvPicPr>
          <p:cNvPr id="6" name="Picture 5" descr="A graph of a number of words&#10;&#10;AI-generated content may be incorrect.">
            <a:extLst>
              <a:ext uri="{FF2B5EF4-FFF2-40B4-BE49-F238E27FC236}">
                <a16:creationId xmlns:a16="http://schemas.microsoft.com/office/drawing/2014/main" id="{FF29420B-CA70-0430-F9F4-7647D9190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42" y="1143000"/>
            <a:ext cx="4380622" cy="38176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D5384A-8C8C-16EC-9CFE-BFF0FA993212}"/>
              </a:ext>
            </a:extLst>
          </p:cNvPr>
          <p:cNvSpPr txBox="1"/>
          <p:nvPr/>
        </p:nvSpPr>
        <p:spPr>
          <a:xfrm>
            <a:off x="5355527" y="1276588"/>
            <a:ext cx="29503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 fields see an increase in LLM-associated words between the pre and post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NB: we always delay our treatment impact measurement 6 months after a model release – this is due to the period of time it takes between paper submission and publication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67DB-FE2E-9260-4B18-1BB3FF3D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AF07AD-2908-26FD-6630-9C5F694A37DF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</a:rPr>
              <a:t>Regression Specification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556688"/>
                </a:solidFill>
                <a:latin typeface="Calibri"/>
              </a:defRPr>
            </a:pPr>
            <a:r>
              <a:t>Diff-in-diff with continuous treatment intensity and monthly trend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7680960" cy="77724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Y</a:t>
            </a:r>
            <a:r>
              <a:rPr sz="1400" b="0" i="1">
                <a:solidFill>
                  <a:srgbClr val="CADCFC"/>
                </a:solidFill>
                <a:latin typeface="Calibri"/>
              </a:rPr>
              <a:t>ᵢft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 =  α  +  </a:t>
            </a:r>
            <a:r>
              <a:rPr sz="2000" b="1" i="0">
                <a:solidFill>
                  <a:srgbClr val="FFD700"/>
                </a:solidFill>
                <a:latin typeface="Calibri"/>
              </a:rPr>
              <a:t>β₁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(A</a:t>
            </a:r>
            <a:r>
              <a:rPr sz="1400" b="0" i="1">
                <a:solidFill>
                  <a:srgbClr val="CADCFC"/>
                </a:solidFill>
                <a:latin typeface="Calibri"/>
              </a:rPr>
              <a:t>f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× D</a:t>
            </a:r>
            <a:r>
              <a:rPr sz="1400" b="0" i="1">
                <a:solidFill>
                  <a:srgbClr val="CADCFC"/>
                </a:solidFill>
                <a:latin typeface="Calibri"/>
              </a:rPr>
              <a:t>t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)  +  </a:t>
            </a:r>
            <a:r>
              <a:rPr sz="2000" b="1" i="0">
                <a:solidFill>
                  <a:srgbClr val="FFD700"/>
                </a:solidFill>
                <a:latin typeface="Calibri"/>
              </a:rPr>
              <a:t>β₂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(A</a:t>
            </a:r>
            <a:r>
              <a:rPr sz="1400" b="0" i="1">
                <a:solidFill>
                  <a:srgbClr val="CADCFC"/>
                </a:solidFill>
                <a:latin typeface="Calibri"/>
              </a:rPr>
              <a:t>f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× T</a:t>
            </a:r>
            <a:r>
              <a:rPr sz="1400" b="0" i="1">
                <a:solidFill>
                  <a:srgbClr val="CADCFC"/>
                </a:solidFill>
                <a:latin typeface="Calibri"/>
              </a:rPr>
              <a:t>t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)  +  γ′X</a:t>
            </a:r>
            <a:r>
              <a:rPr sz="1400" b="0" i="1">
                <a:solidFill>
                  <a:srgbClr val="CADCFC"/>
                </a:solidFill>
                <a:latin typeface="Calibri"/>
              </a:rPr>
              <a:t>ᵢft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 +  δ</a:t>
            </a:r>
            <a:r>
              <a:rPr sz="1400" b="0" i="1">
                <a:solidFill>
                  <a:srgbClr val="CADCFC"/>
                </a:solidFill>
                <a:latin typeface="Calibri"/>
              </a:rPr>
              <a:t>f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 +  θ</a:t>
            </a:r>
            <a:r>
              <a:rPr sz="1400" b="0" i="1">
                <a:solidFill>
                  <a:srgbClr val="CADCFC"/>
                </a:solidFill>
                <a:latin typeface="Calibri"/>
              </a:rPr>
              <a:t>t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 +  ε</a:t>
            </a:r>
            <a:r>
              <a:rPr sz="1400" b="0" i="1">
                <a:solidFill>
                  <a:srgbClr val="CADCFC"/>
                </a:solidFill>
                <a:latin typeface="Calibri"/>
              </a:rPr>
              <a:t>ᵢft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2761"/>
                </a:solidFill>
                <a:latin typeface="Calibri"/>
              </a:defRPr>
            </a:pPr>
            <a:r>
              <a:t>Key Variables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3A7BD5"/>
                </a:solidFill>
                <a:latin typeface="Calibri"/>
              </a:rPr>
              <a:t>Yᵢft</a:t>
            </a:r>
            <a:r>
              <a:rPr sz="1200" b="0" i="0">
                <a:solidFill>
                  <a:srgbClr val="1E2761"/>
                </a:solidFill>
                <a:latin typeface="Calibri"/>
              </a:rPr>
              <a:t>  Shannon entropy of paper i in field f at time t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3A7BD5"/>
                </a:solidFill>
                <a:latin typeface="Calibri"/>
              </a:rPr>
              <a:t>Af</a:t>
            </a:r>
            <a:r>
              <a:rPr sz="1200" b="0" i="0">
                <a:solidFill>
                  <a:srgbClr val="1E2761"/>
                </a:solidFill>
                <a:latin typeface="Calibri"/>
              </a:rPr>
              <a:t>  AI propensity score (Kobak marker word increase, field f)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3A7BD5"/>
                </a:solidFill>
                <a:latin typeface="Calibri"/>
              </a:rPr>
              <a:t>Dt</a:t>
            </a:r>
            <a:r>
              <a:rPr sz="1200" b="0" i="0">
                <a:solidFill>
                  <a:srgbClr val="1E2761"/>
                </a:solidFill>
                <a:latin typeface="Calibri"/>
              </a:rPr>
              <a:t>  = 1 if post-GPT-4o (Nov 2024+)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3A7BD5"/>
                </a:solidFill>
                <a:latin typeface="Calibri"/>
              </a:rPr>
              <a:t>Tt</a:t>
            </a:r>
            <a:r>
              <a:rPr sz="1200" b="0" i="0">
                <a:solidFill>
                  <a:srgbClr val="1E2761"/>
                </a:solidFill>
                <a:latin typeface="Calibri"/>
              </a:rPr>
              <a:t>  = max(0, months since Nov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37744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2761"/>
                </a:solidFill>
                <a:latin typeface="Calibri"/>
              </a:defRPr>
            </a:pPr>
            <a:r>
              <a:t>Controls &amp; Fixed Effects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3A7BD5"/>
                </a:solidFill>
                <a:latin typeface="Calibri"/>
              </a:rPr>
              <a:t>Xᵢft</a:t>
            </a:r>
            <a:r>
              <a:rPr sz="1200" b="0" i="0">
                <a:solidFill>
                  <a:srgbClr val="1E2761"/>
                </a:solidFill>
                <a:latin typeface="Calibri"/>
              </a:rPr>
              <a:t>  Num. authors, institutions, countries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3A7BD5"/>
                </a:solidFill>
                <a:latin typeface="Calibri"/>
              </a:rPr>
              <a:t>δf</a:t>
            </a:r>
            <a:r>
              <a:rPr sz="1200" b="0" i="0">
                <a:solidFill>
                  <a:srgbClr val="1E2761"/>
                </a:solidFill>
                <a:latin typeface="Calibri"/>
              </a:rPr>
              <a:t>  Field fixed effects (16 fields)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3A7BD5"/>
                </a:solidFill>
                <a:latin typeface="Calibri"/>
              </a:rPr>
              <a:t>θt</a:t>
            </a:r>
            <a:r>
              <a:rPr sz="1200" b="0" i="0">
                <a:solidFill>
                  <a:srgbClr val="1E2761"/>
                </a:solidFill>
                <a:latin typeface="Calibri"/>
              </a:rPr>
              <a:t>  Year-month fixed effects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3A7BD5"/>
                </a:solidFill>
                <a:latin typeface="Calibri"/>
              </a:rPr>
              <a:t>εᵢft</a:t>
            </a:r>
            <a:r>
              <a:rPr sz="1200" b="0" i="0">
                <a:solidFill>
                  <a:srgbClr val="1E2761"/>
                </a:solidFill>
                <a:latin typeface="Calibri"/>
              </a:rPr>
              <a:t>  HC1 robust standard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7680960" cy="59436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Calibri"/>
              </a:rPr>
              <a:t>β₁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captures the level shift at treatment.  </a:t>
            </a:r>
            <a:r>
              <a:rPr sz="1300" b="1" i="0">
                <a:solidFill>
                  <a:srgbClr val="FFD700"/>
                </a:solidFill>
                <a:latin typeface="Calibri"/>
              </a:rPr>
              <a:t>β₂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captures the monthly trend post-treatment — consistent with gradual LLM diffusion.</a:t>
            </a:r>
          </a:p>
        </p:txBody>
      </p:sp>
    </p:spTree>
    <p:extLst>
      <p:ext uri="{BB962C8B-B14F-4D97-AF65-F5344CB8AC3E}">
        <p14:creationId xmlns:p14="http://schemas.microsoft.com/office/powerpoint/2010/main" val="2065123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DA11F-8AF2-7B5C-D937-AF3C3715F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58421D-7C91-177A-4345-7E45A795F701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Shannon Entropy – Measuring Citation Diversity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252EFE-E90D-64C0-2DE0-5FDC0131F234}"/>
              </a:ext>
            </a:extLst>
          </p:cNvPr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fields show increases after ChatGPT release, but magnitude varies substantially</a:t>
            </a:r>
            <a:endParaRPr lang="en-US" sz="12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D6440AE-000F-D195-AB90-B94C8AAE0DB2}"/>
              </a:ext>
            </a:extLst>
          </p:cNvPr>
          <p:cNvSpPr/>
          <p:nvPr/>
        </p:nvSpPr>
        <p:spPr>
          <a:xfrm>
            <a:off x="1371600" y="1127284"/>
            <a:ext cx="6400800" cy="9144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80A3C-E8C7-EAB3-B2F1-E172B086DAB8}"/>
              </a:ext>
            </a:extLst>
          </p:cNvPr>
          <p:cNvSpPr txBox="1"/>
          <p:nvPr/>
        </p:nvSpPr>
        <p:spPr>
          <a:xfrm>
            <a:off x="2193131" y="127658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Hᵢ = –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pᵢ(g) · ln pᵢ(g)</a:t>
            </a:r>
            <a:endParaRPr lang="en-US" sz="18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42713AA-032E-27F1-8F78-9D0B575F72BE}"/>
              </a:ext>
            </a:extLst>
          </p:cNvPr>
          <p:cNvSpPr/>
          <p:nvPr/>
        </p:nvSpPr>
        <p:spPr>
          <a:xfrm>
            <a:off x="137160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pᵢ(g) = share of paper i's references classified in field g</a:t>
            </a:r>
            <a:endParaRPr 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A841FC-53F6-E467-4F0E-ECEDCBCBC400}"/>
              </a:ext>
            </a:extLst>
          </p:cNvPr>
          <p:cNvSpPr txBox="1"/>
          <p:nvPr/>
        </p:nvSpPr>
        <p:spPr>
          <a:xfrm>
            <a:off x="2193131" y="2386012"/>
            <a:ext cx="2178844" cy="194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captures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We observe how each paper distributes its citations across </a:t>
            </a:r>
            <a:r>
              <a:rPr lang="en-US" sz="1200" dirty="0" err="1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OpenAlex’s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 26 fields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Shannon entropy measures how spread out that distribution is (breadth and evenness)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9CFBC8-6782-EA4B-D815-C36DE0AF0C98}"/>
              </a:ext>
            </a:extLst>
          </p:cNvPr>
          <p:cNvSpPr txBox="1"/>
          <p:nvPr/>
        </p:nvSpPr>
        <p:spPr>
          <a:xfrm>
            <a:off x="4981576" y="2400299"/>
            <a:ext cx="21788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All citations in one field -&gt; H = 0 Nats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Equal citations across all fields -&gt; H = ln(26)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3.26 (max diversity)</a:t>
            </a:r>
            <a:endParaRPr lang="en-US" sz="1200" dirty="0"/>
          </a:p>
          <a:p>
            <a:pPr>
              <a:spcAft>
                <a:spcPts val="400"/>
              </a:spcAft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83618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Result: Citation Entropy Diverges Post-4o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High-propensity fields show steeper entropy increase after GPT-4o release</a:t>
            </a:r>
            <a:endParaRPr lang="en-US" sz="1200" dirty="0"/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C3B32C2-EBB8-15F1-F85A-63F4129EE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7772400" cy="38452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67D58-AEEB-379F-A383-C0B9EB17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548F24-5C74-8673-69C5-A455F8FE31CD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Result: Citation Entropy Diverges Post-4o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F021D6-9885-B3A0-0776-1A75ED3F994E}"/>
              </a:ext>
            </a:extLst>
          </p:cNvPr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High-propensity fields show steeper entropy increase after GPT-4o release</a:t>
            </a:r>
            <a:endParaRPr lang="en-US" sz="1200" dirty="0"/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24AC44F-1C91-3462-FB67-2757E9424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7772400" cy="384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096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E4CB8-4361-BD7E-1711-4CDA1AF3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EEB791-5D82-24EF-F90C-86EE465D1528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Result: Citation Entropy Diverges Post-4o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460D0C-DCE0-2E11-15A5-BAB00E529197}"/>
              </a:ext>
            </a:extLst>
          </p:cNvPr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High-propensity fields show steeper entropy increase after GPT-4o release</a:t>
            </a:r>
            <a:endParaRPr lang="en-US" sz="1200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CF3C56B1-DD4F-8D9D-C2DE-A96010370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36203"/>
              </p:ext>
            </p:extLst>
          </p:nvPr>
        </p:nvGraphicFramePr>
        <p:xfrm>
          <a:off x="548640" y="1143000"/>
          <a:ext cx="4603431" cy="3741908"/>
        </p:xfrm>
        <a:graphic>
          <a:graphicData uri="http://schemas.openxmlformats.org/drawingml/2006/table">
            <a:tbl>
              <a:tblPr/>
              <a:tblGrid>
                <a:gridCol w="193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4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(1)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(2) 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Propensity Jump  (β₁)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(0.068)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(0.106)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Propensity Trend (Monthly)  (β₂)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Controls:</a:t>
                      </a: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(0.012)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Num. authors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institutions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–0.000***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–0.000***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countries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Year-month 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2">
            <a:extLst>
              <a:ext uri="{FF2B5EF4-FFF2-40B4-BE49-F238E27FC236}">
                <a16:creationId xmlns:a16="http://schemas.microsoft.com/office/drawing/2014/main" id="{10D18474-5828-3FDE-3E5B-98A3D86AEE0D}"/>
              </a:ext>
            </a:extLst>
          </p:cNvPr>
          <p:cNvSpPr/>
          <p:nvPr/>
        </p:nvSpPr>
        <p:spPr>
          <a:xfrm>
            <a:off x="548640" y="4869180"/>
            <a:ext cx="39376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HC1 robust standard errors in parentheses.  *** p &lt; 0.01, ** p &lt; 0.05, * p &lt; 0.10</a:t>
            </a:r>
            <a:endParaRPr 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AA4482-4657-DB34-8B63-7508565CBDD9}"/>
              </a:ext>
            </a:extLst>
          </p:cNvPr>
          <p:cNvSpPr txBox="1"/>
          <p:nvPr/>
        </p:nvSpPr>
        <p:spPr>
          <a:xfrm>
            <a:off x="5644991" y="1663809"/>
            <a:ext cx="295036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Both jump gradual trend are separately significant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Gradual trend better describes impact than singular-time jump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This makes sense as it takes time to adopt new models into a workflow</a:t>
            </a:r>
          </a:p>
        </p:txBody>
      </p:sp>
    </p:spTree>
    <p:extLst>
      <p:ext uri="{BB962C8B-B14F-4D97-AF65-F5344CB8AC3E}">
        <p14:creationId xmlns:p14="http://schemas.microsoft.com/office/powerpoint/2010/main" val="198896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Parallel Trends &amp; Within-Field Share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8288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trends pass (p = 0.56) in 18-month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pre-period with field FE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84632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Within-field citation share declines faster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high-propensity fields post-4o</a:t>
            </a:r>
            <a:endParaRPr lang="en-US" sz="1100" dirty="0"/>
          </a:p>
        </p:txBody>
      </p:sp>
      <p:pic>
        <p:nvPicPr>
          <p:cNvPr id="8" name="Picture 7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F6121816-9090-EE47-C5B1-B7E4FD801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94066"/>
            <a:ext cx="4255619" cy="2105411"/>
          </a:xfrm>
          <a:prstGeom prst="rect">
            <a:avLst/>
          </a:prstGeom>
        </p:spPr>
      </p:pic>
      <p:pic>
        <p:nvPicPr>
          <p:cNvPr id="10" name="Picture 9" descr="A graph of a graph with red and blue lines&#10;&#10;AI-generated content may be incorrect.">
            <a:extLst>
              <a:ext uri="{FF2B5EF4-FFF2-40B4-BE49-F238E27FC236}">
                <a16:creationId xmlns:a16="http://schemas.microsoft.com/office/drawing/2014/main" id="{EF667503-15CB-8109-2CB0-5E818CC3C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190" y="1619094"/>
            <a:ext cx="4255618" cy="21054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0C15AB-CC55-CA2F-491B-C156BDF40D4F}"/>
              </a:ext>
            </a:extLst>
          </p:cNvPr>
          <p:cNvSpPr txBox="1"/>
          <p:nvPr/>
        </p:nvSpPr>
        <p:spPr>
          <a:xfrm>
            <a:off x="304099" y="822960"/>
            <a:ext cx="39321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expect parallel trends for the development of high AI propensity and low AI propensity fields before treatment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3DA45-0CC0-5890-FED9-7B505FFBA9BF}"/>
              </a:ext>
            </a:extLst>
          </p:cNvPr>
          <p:cNvSpPr txBox="1"/>
          <p:nvPr/>
        </p:nvSpPr>
        <p:spPr>
          <a:xfrm>
            <a:off x="4564436" y="822960"/>
            <a:ext cx="3932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expect within-field share of citations to drop more in high AI fields than in low AI fields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ADDF9-1E28-2D81-FA15-476133CAA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D42810-9F7E-A03F-1E43-5F62E9B848F8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Parallel Trends &amp; Within-Field Share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91479B2-2FDA-D0D2-1FC5-2E06CA983D4D}"/>
              </a:ext>
            </a:extLst>
          </p:cNvPr>
          <p:cNvSpPr/>
          <p:nvPr/>
        </p:nvSpPr>
        <p:spPr>
          <a:xfrm>
            <a:off x="18288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trends pass (p = 0.56) in 18-month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pre-period with field FE</a:t>
            </a:r>
            <a:endParaRPr lang="en-US" sz="11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E25CA79-DE28-752C-97BC-EDCC8C6F1196}"/>
              </a:ext>
            </a:extLst>
          </p:cNvPr>
          <p:cNvSpPr/>
          <p:nvPr/>
        </p:nvSpPr>
        <p:spPr>
          <a:xfrm>
            <a:off x="484632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Within-field citation share declines faster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high-propensity fields post-4o</a:t>
            </a:r>
            <a:endParaRPr lang="en-US" sz="1100" dirty="0"/>
          </a:p>
        </p:txBody>
      </p:sp>
      <p:pic>
        <p:nvPicPr>
          <p:cNvPr id="8" name="Picture 7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02FD7729-9CE4-BD14-CAF8-8B01260F4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94066"/>
            <a:ext cx="4255619" cy="2105411"/>
          </a:xfrm>
          <a:prstGeom prst="rect">
            <a:avLst/>
          </a:prstGeom>
        </p:spPr>
      </p:pic>
      <p:pic>
        <p:nvPicPr>
          <p:cNvPr id="10" name="Picture 9" descr="A graph of a graph with red and blue lines&#10;&#10;AI-generated content may be incorrect.">
            <a:extLst>
              <a:ext uri="{FF2B5EF4-FFF2-40B4-BE49-F238E27FC236}">
                <a16:creationId xmlns:a16="http://schemas.microsoft.com/office/drawing/2014/main" id="{5D683644-9BD6-8F7F-C310-C6ADCDCBF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190" y="1619094"/>
            <a:ext cx="4255618" cy="21054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58E6F8-921A-B1CB-451C-66628B30CD48}"/>
              </a:ext>
            </a:extLst>
          </p:cNvPr>
          <p:cNvSpPr txBox="1"/>
          <p:nvPr/>
        </p:nvSpPr>
        <p:spPr>
          <a:xfrm>
            <a:off x="304099" y="822960"/>
            <a:ext cx="39321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expect parallel trends for the development of high AI propensity and low AI propensity fields before treatment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F1E7D-D294-790D-B601-634AD8739D95}"/>
              </a:ext>
            </a:extLst>
          </p:cNvPr>
          <p:cNvSpPr txBox="1"/>
          <p:nvPr/>
        </p:nvSpPr>
        <p:spPr>
          <a:xfrm>
            <a:off x="4564436" y="822960"/>
            <a:ext cx="3932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expect within-field share of citations to drop more in high AI fields than in low AI fields</a:t>
            </a:r>
          </a:p>
        </p:txBody>
      </p:sp>
    </p:spTree>
    <p:extLst>
      <p:ext uri="{BB962C8B-B14F-4D97-AF65-F5344CB8AC3E}">
        <p14:creationId xmlns:p14="http://schemas.microsoft.com/office/powerpoint/2010/main" val="1330404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Cross-Sectional 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with higher AI propensity saw larger increases in citation diversity (r = 0.603)</a:t>
            </a:r>
            <a:endParaRPr lang="en-US" sz="1200" dirty="0"/>
          </a:p>
        </p:txBody>
      </p:sp>
      <p:pic>
        <p:nvPicPr>
          <p:cNvPr id="6" name="Picture 5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27CCC976-39C1-24E4-B0D8-25E04A0A3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2346"/>
            <a:ext cx="4564843" cy="35568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12A203-9A47-F78D-2C5D-750F35AB8E2A}"/>
              </a:ext>
            </a:extLst>
          </p:cNvPr>
          <p:cNvSpPr txBox="1"/>
          <p:nvPr/>
        </p:nvSpPr>
        <p:spPr>
          <a:xfrm>
            <a:off x="5679281" y="1498084"/>
            <a:ext cx="26003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Dose-Response: Higher Propensity -&gt; Larger Entropy Gains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While no longer controlling for other variables, this offers a clean visualization of the effect we find in our regression specification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adoption may not predict GPT-4o adoption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4475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scores capture structural field-level receptivity to LLM assistance, not adoption of a specific model. Measured during a pre-“gaming” period when there was no reputational cost to AI-influenced writing.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860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LLM releases confound the GPT-4o effect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63347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Gemini, and Llama improved over the same period. Our estimand is best interpreted as the effect of crossing a broad AI accessibility threshold — GPT-4o was the first frontier model available for free — not the effect of one product.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474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reflects field structure, not individual behavior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distinguish whether high-propensity fields adopt LLMs because of structural workflow amenability or because of demographic composition (e.g., younger, more tech-savvy researchers). Field FE absorb level differences, but the interaction could still reflect composition.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C4415-2D3D-97D2-DF84-EC3824D8D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5367D9-8D6E-56C6-C8F9-6E2F75AD91CE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3FDC7E-ABA4-EB76-0F45-111EA14E58C5}"/>
              </a:ext>
            </a:extLst>
          </p:cNvPr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C14BDE-444D-6646-B1AF-2FD042FD6079}"/>
              </a:ext>
            </a:extLst>
          </p:cNvPr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0BE684-41F9-24A7-203D-5F86CA0A107A}"/>
              </a:ext>
            </a:extLst>
          </p:cNvPr>
          <p:cNvSpPr/>
          <p:nvPr/>
        </p:nvSpPr>
        <p:spPr>
          <a:xfrm>
            <a:off x="1188720" y="1097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adoption may not predict GPT-4o adoption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0859F1-E0C8-F128-1C87-A33CD2F82DFB}"/>
              </a:ext>
            </a:extLst>
          </p:cNvPr>
          <p:cNvSpPr/>
          <p:nvPr/>
        </p:nvSpPr>
        <p:spPr>
          <a:xfrm>
            <a:off x="1188720" y="144475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scores capture structural field-level receptivity to LLM assistance, not adoption of a specific model. Measured during a pre-“gaming” period when there was no reputational cost to AI-influenced writing.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FA6C7BB-52F3-29FA-1E50-2F523B245605}"/>
              </a:ext>
            </a:extLst>
          </p:cNvPr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779AFE-AC26-3B17-DFFA-00FB8F4EF2C1}"/>
              </a:ext>
            </a:extLst>
          </p:cNvPr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04CDB70-CD28-2423-A1AC-61821D13AB9B}"/>
              </a:ext>
            </a:extLst>
          </p:cNvPr>
          <p:cNvSpPr/>
          <p:nvPr/>
        </p:nvSpPr>
        <p:spPr>
          <a:xfrm>
            <a:off x="1188720" y="22860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LLM releases confound the GPT-4o effect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7A8B87D-F053-33EF-6FCB-1B00172B8B59}"/>
              </a:ext>
            </a:extLst>
          </p:cNvPr>
          <p:cNvSpPr/>
          <p:nvPr/>
        </p:nvSpPr>
        <p:spPr>
          <a:xfrm>
            <a:off x="1188720" y="263347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Gemini, and Llama improved over the same period. Our estimand is best interpreted as the effect of crossing a broad AI accessibility threshold — GPT-4o was the first frontier model available for free — not the effect of one product.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244D651-0B9D-EDC0-418F-8ED3F2928F98}"/>
              </a:ext>
            </a:extLst>
          </p:cNvPr>
          <p:cNvSpPr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4598254-BB29-D9AB-769E-B9F02B20CF05}"/>
              </a:ext>
            </a:extLst>
          </p:cNvPr>
          <p:cNvSpPr/>
          <p:nvPr/>
        </p:nvSpPr>
        <p:spPr>
          <a:xfrm>
            <a:off x="54864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671BF55-9205-B595-60D7-A671BB5FDAEB}"/>
              </a:ext>
            </a:extLst>
          </p:cNvPr>
          <p:cNvSpPr/>
          <p:nvPr/>
        </p:nvSpPr>
        <p:spPr>
          <a:xfrm>
            <a:off x="1188720" y="3474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reflects field structure, not individual behavior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47E09DE-66E3-FE3F-1059-54D5E6AB83F5}"/>
              </a:ext>
            </a:extLst>
          </p:cNvPr>
          <p:cNvSpPr/>
          <p:nvPr/>
        </p:nvSpPr>
        <p:spPr>
          <a:xfrm>
            <a:off x="1188720" y="382219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distinguish whether high-propensity fields adopt LLMs because of structural workflow amenability or because of demographic composition (e.g., younger, more tech-savvy researchers). Field FE absorb level differences, but the interaction could still reflect composition.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67539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Adoption Causes an Increase in Citation Diversity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increase post ChatGPT 4o introduction is modulated by AI propensity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&amp; Adam Tuchler  |  University of Chicago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20BCB-0850-8987-BD63-108069F3D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06C9B7-3E75-157B-B593-B07C9D42B4B5}"/>
              </a:ext>
            </a:extLst>
          </p:cNvPr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3DC64D-5488-155A-6A34-59E6CE122726}"/>
              </a:ext>
            </a:extLst>
          </p:cNvPr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1F363B-647E-F5E7-5E54-FDBE03D219A5}"/>
              </a:ext>
            </a:extLst>
          </p:cNvPr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EB521F5-57DB-8C2F-397F-142C8D5707F3}"/>
              </a:ext>
            </a:extLst>
          </p:cNvPr>
          <p:cNvSpPr/>
          <p:nvPr/>
        </p:nvSpPr>
        <p:spPr>
          <a:xfrm>
            <a:off x="13716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Adoption Causes an Increase in Citation Diversity 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1F43183-911F-9262-7669-F52FF03286B0}"/>
              </a:ext>
            </a:extLst>
          </p:cNvPr>
          <p:cNvSpPr/>
          <p:nvPr/>
        </p:nvSpPr>
        <p:spPr>
          <a:xfrm>
            <a:off x="1371600" y="15544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increase post ChatGPT 4o introduction is modulated by AI propensity score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F2112B2-4762-78DF-EE77-4E8AD6FD30EA}"/>
              </a:ext>
            </a:extLst>
          </p:cNvPr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C7707E-C961-02F5-B9F1-75DB1A6CC951}"/>
              </a:ext>
            </a:extLst>
          </p:cNvPr>
          <p:cNvSpPr/>
          <p:nvPr/>
        </p:nvSpPr>
        <p:spPr>
          <a:xfrm>
            <a:off x="73152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5225761-B27F-6DFA-943B-3C4779FB860D}"/>
              </a:ext>
            </a:extLst>
          </p:cNvPr>
          <p:cNvSpPr/>
          <p:nvPr/>
        </p:nvSpPr>
        <p:spPr>
          <a:xfrm>
            <a:off x="1371600" y="21488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gradual, not a jump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4CE876E-5EF3-D932-C931-AA0B8EE97130}"/>
              </a:ext>
            </a:extLst>
          </p:cNvPr>
          <p:cNvSpPr/>
          <p:nvPr/>
        </p:nvSpPr>
        <p:spPr>
          <a:xfrm>
            <a:off x="1371600" y="24688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× trend specification fits better than level shift — consistent with diffusion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87F7877-D289-4897-4713-5653B25868A7}"/>
              </a:ext>
            </a:extLst>
          </p:cNvPr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&amp; Adam Tuchler  |  University of Chicago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12586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F8B4D-59F2-4D77-99C2-625C7CF3F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0450D5-3D51-B18C-1F4C-4B9A9CE57214}"/>
              </a:ext>
            </a:extLst>
          </p:cNvPr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4321C86-D5EC-D9AA-74E5-40044AD715A3}"/>
              </a:ext>
            </a:extLst>
          </p:cNvPr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2D1B31-B060-9149-3253-29C485A39F86}"/>
              </a:ext>
            </a:extLst>
          </p:cNvPr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2429FA-3072-CC50-E1A3-A1E6DB342E54}"/>
              </a:ext>
            </a:extLst>
          </p:cNvPr>
          <p:cNvSpPr/>
          <p:nvPr/>
        </p:nvSpPr>
        <p:spPr>
          <a:xfrm>
            <a:off x="13716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Adoption Causes an Increase in Citation Diversity 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E81B62-90C1-BE4F-FB13-4D69BD60A3C0}"/>
              </a:ext>
            </a:extLst>
          </p:cNvPr>
          <p:cNvSpPr/>
          <p:nvPr/>
        </p:nvSpPr>
        <p:spPr>
          <a:xfrm>
            <a:off x="1371600" y="15544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increase post ChatGPT 4o introduction is modulated by AI propensity score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FFEDE72-319D-A947-6E12-4F751EB756A2}"/>
              </a:ext>
            </a:extLst>
          </p:cNvPr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F1F84BC-9B37-A0A6-6954-6229B79E62F3}"/>
              </a:ext>
            </a:extLst>
          </p:cNvPr>
          <p:cNvSpPr/>
          <p:nvPr/>
        </p:nvSpPr>
        <p:spPr>
          <a:xfrm>
            <a:off x="73152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94ECD01-B14D-F45A-1981-14CBE91FD6D4}"/>
              </a:ext>
            </a:extLst>
          </p:cNvPr>
          <p:cNvSpPr/>
          <p:nvPr/>
        </p:nvSpPr>
        <p:spPr>
          <a:xfrm>
            <a:off x="1371600" y="21488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gradual, not a jump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167CAB-FBEB-94FD-EBE5-619B2C62DC1E}"/>
              </a:ext>
            </a:extLst>
          </p:cNvPr>
          <p:cNvSpPr/>
          <p:nvPr/>
        </p:nvSpPr>
        <p:spPr>
          <a:xfrm>
            <a:off x="1371600" y="24688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× trend specification fits better than level shift — consistent with diffusion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9DC89A1-5EB6-F1BC-D672-B15A4137F461}"/>
              </a:ext>
            </a:extLst>
          </p:cNvPr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E88F62-1489-68C2-489D-8CA005B53AD7}"/>
              </a:ext>
            </a:extLst>
          </p:cNvPr>
          <p:cNvSpPr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B1E389D-B7DD-C732-B47E-4D3F7E530A84}"/>
              </a:ext>
            </a:extLst>
          </p:cNvPr>
          <p:cNvSpPr/>
          <p:nvPr/>
        </p:nvSpPr>
        <p:spPr>
          <a:xfrm>
            <a:off x="1371600" y="3063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measures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E8385B-B450-0AF6-716A-9AA3A5D2D40B}"/>
              </a:ext>
            </a:extLst>
          </p:cNvPr>
          <p:cNvSpPr/>
          <p:nvPr/>
        </p:nvSpPr>
        <p:spPr>
          <a:xfrm>
            <a:off x="1371600" y="33832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distinct fields cited, and within-field share all point the same direction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2304514-8068-D664-D0B5-CEF233C4CBF4}"/>
              </a:ext>
            </a:extLst>
          </p:cNvPr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&amp; Adam Tuchler  |  University of Chicago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32410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323DF-F73E-73C8-ED03-ADE3BBAE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3884E1-EA25-66BB-D7E8-702E2351DEE9}"/>
              </a:ext>
            </a:extLst>
          </p:cNvPr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1AC0B1-C8DB-8133-B709-786CE84206A3}"/>
              </a:ext>
            </a:extLst>
          </p:cNvPr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AE4663-2783-282D-5B4C-1964528CD493}"/>
              </a:ext>
            </a:extLst>
          </p:cNvPr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F29060-F554-DF50-3B22-DA5ADA16DF29}"/>
              </a:ext>
            </a:extLst>
          </p:cNvPr>
          <p:cNvSpPr/>
          <p:nvPr/>
        </p:nvSpPr>
        <p:spPr>
          <a:xfrm>
            <a:off x="13716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Adoption Causes an Increase in Citation Diversity 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B80644-6101-89A2-DA26-4D5B01023908}"/>
              </a:ext>
            </a:extLst>
          </p:cNvPr>
          <p:cNvSpPr/>
          <p:nvPr/>
        </p:nvSpPr>
        <p:spPr>
          <a:xfrm>
            <a:off x="1371600" y="15544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increases by +0.031 nats/month in high-propensity fields post-4o. This is a robust finding.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A239DFF-2A49-53C8-6450-89495E6D1576}"/>
              </a:ext>
            </a:extLst>
          </p:cNvPr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FB364C2-7EE0-8596-F287-696052348DA3}"/>
              </a:ext>
            </a:extLst>
          </p:cNvPr>
          <p:cNvSpPr/>
          <p:nvPr/>
        </p:nvSpPr>
        <p:spPr>
          <a:xfrm>
            <a:off x="73152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8ACE3D1-402E-0BE3-422D-5D8E4907CDA5}"/>
              </a:ext>
            </a:extLst>
          </p:cNvPr>
          <p:cNvSpPr/>
          <p:nvPr/>
        </p:nvSpPr>
        <p:spPr>
          <a:xfrm>
            <a:off x="1371600" y="21488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gradual, not a jump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0BEF4E-FCC6-DBDD-8701-93F0D586F723}"/>
              </a:ext>
            </a:extLst>
          </p:cNvPr>
          <p:cNvSpPr/>
          <p:nvPr/>
        </p:nvSpPr>
        <p:spPr>
          <a:xfrm>
            <a:off x="1371600" y="24688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× trend specification fits better than level shift — consistent with diffusion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04492E1-BF96-E02C-461D-68ECEF96F55A}"/>
              </a:ext>
            </a:extLst>
          </p:cNvPr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A824BD-9369-0B4B-7819-14AFEC9D69B4}"/>
              </a:ext>
            </a:extLst>
          </p:cNvPr>
          <p:cNvSpPr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C645505-5D25-92E7-5830-40E37DEF4ED8}"/>
              </a:ext>
            </a:extLst>
          </p:cNvPr>
          <p:cNvSpPr/>
          <p:nvPr/>
        </p:nvSpPr>
        <p:spPr>
          <a:xfrm>
            <a:off x="1371600" y="3063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measures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59C799E-0C6C-323C-4BB6-108BB1D33D51}"/>
              </a:ext>
            </a:extLst>
          </p:cNvPr>
          <p:cNvSpPr/>
          <p:nvPr/>
        </p:nvSpPr>
        <p:spPr>
          <a:xfrm>
            <a:off x="1371600" y="33832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distinct fields cited, and within-field share all point the same direction</a:t>
            </a:r>
            <a:endParaRPr lang="en-US" sz="1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6EC8B2C-78F2-849A-66EC-326F3396AB90}"/>
              </a:ext>
            </a:extLst>
          </p:cNvPr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E633D03-77B6-2594-460B-8271162B5034}"/>
              </a:ext>
            </a:extLst>
          </p:cNvPr>
          <p:cNvSpPr/>
          <p:nvPr/>
        </p:nvSpPr>
        <p:spPr>
          <a:xfrm>
            <a:off x="73152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7B7BFED-8797-AF2E-127E-2983B893AE2C}"/>
              </a:ext>
            </a:extLst>
          </p:cNvPr>
          <p:cNvSpPr/>
          <p:nvPr/>
        </p:nvSpPr>
        <p:spPr>
          <a:xfrm>
            <a:off x="1371600" y="39776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existing literature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B156AA3-BE2D-7991-2643-1BFEC69EBF12}"/>
              </a:ext>
            </a:extLst>
          </p:cNvPr>
          <p:cNvSpPr/>
          <p:nvPr/>
        </p:nvSpPr>
        <p:spPr>
          <a:xfrm>
            <a:off x="1371600" y="42976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et al. (2026) find AI contracts knowledge extent; we find it expands citation breadth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2F49AF6-9A5A-93C7-B5CB-2400820B899C}"/>
              </a:ext>
            </a:extLst>
          </p:cNvPr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&amp; Adam Tuchler  |  University of Chicago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71334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E2761"/>
                </a:solidFill>
                <a:latin typeface="Georgia"/>
              </a:defRPr>
            </a:pPr>
            <a:r>
              <a:t>Future Work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E2761"/>
                </a:solidFill>
                <a:latin typeface="Calibri"/>
              </a:defRPr>
            </a:pPr>
            <a:r>
              <a:t>Do cross-disciplinary citations produce lasting impact?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44752"/>
            <a:ext cx="7406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761"/>
                </a:solidFill>
                <a:latin typeface="Calibri"/>
              </a:defRPr>
            </a:pPr>
            <a:r>
              <a:t>Track forward citations, disruption indices (CD₅), and knowledge persistence of AI-era papers over 3–5 years. Tests whether the entropy increase we document translates into genuine knowledge integration or superficial breadth — directly engaging Hao et al.’s knowledge contraction and Kusumegi et al.’s quality decline findings.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73192"/>
            <a:ext cx="411480" cy="411480"/>
          </a:xfrm>
          <a:prstGeom prst="ellipse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2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188720" y="2647189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E2761"/>
                </a:solidFill>
                <a:latin typeface="Calibri"/>
              </a:defRPr>
            </a:pPr>
            <a:r>
              <a:t>Disentangle the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94661"/>
            <a:ext cx="7406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761"/>
                </a:solidFill>
                <a:latin typeface="Calibri"/>
              </a:defRPr>
            </a:pPr>
            <a:r>
              <a:rPr dirty="0"/>
              <a:t>Are researchers discovering new literatures through LLM suggestions (</a:t>
            </a:r>
            <a:r>
              <a:rPr dirty="0" err="1"/>
              <a:t>Algaba’s</a:t>
            </a:r>
            <a:r>
              <a:rPr dirty="0"/>
              <a:t> channel), or does LLM-assisted writing lower the cost of integrating sources they already knew about? Experimental or survey-based designs could separate these pathways.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5F5B4-A69B-E2E7-0403-AE63E155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76359B-E6CD-8761-7948-B6E13C002401}"/>
              </a:ext>
            </a:extLst>
          </p:cNvPr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E2761"/>
                </a:solidFill>
                <a:latin typeface="Georgia"/>
              </a:defRPr>
            </a:pPr>
            <a:r>
              <a:t>Future Work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41C5287-0FE3-8E97-1B0A-FE682638A16E}"/>
              </a:ext>
            </a:extLst>
          </p:cNvPr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7FBED-E4D2-796B-BD22-00F754A161E0}"/>
              </a:ext>
            </a:extLst>
          </p:cNvPr>
          <p:cNvSpPr txBox="1"/>
          <p:nvPr/>
        </p:nvSpPr>
        <p:spPr>
          <a:xfrm>
            <a:off x="1188720" y="1097280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E2761"/>
                </a:solidFill>
                <a:latin typeface="Calibri"/>
              </a:defRPr>
            </a:pPr>
            <a:r>
              <a:t>Do cross-disciplinary citations produce lasting impact?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217BF-D9B1-CC70-C384-836A3AAF3A1F}"/>
              </a:ext>
            </a:extLst>
          </p:cNvPr>
          <p:cNvSpPr txBox="1"/>
          <p:nvPr/>
        </p:nvSpPr>
        <p:spPr>
          <a:xfrm>
            <a:off x="1188720" y="1444752"/>
            <a:ext cx="7406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761"/>
                </a:solidFill>
                <a:latin typeface="Calibri"/>
              </a:defRPr>
            </a:pPr>
            <a:r>
              <a:t>Track forward citations, disruption indices (CD₅), and knowledge persistence of AI-era papers over 3–5 years. Tests whether the entropy increase we document translates into genuine knowledge integration or superficial breadth — directly engaging Hao et al.’s knowledge contraction and Kusumegi et al.’s quality decline findings.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C25903-4BAE-36D9-CFAA-5EAABE335B88}"/>
              </a:ext>
            </a:extLst>
          </p:cNvPr>
          <p:cNvSpPr/>
          <p:nvPr/>
        </p:nvSpPr>
        <p:spPr>
          <a:xfrm>
            <a:off x="548640" y="2673192"/>
            <a:ext cx="411480" cy="411480"/>
          </a:xfrm>
          <a:prstGeom prst="ellipse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2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7AB8CF-36BE-CA0E-E220-5C883DC161E5}"/>
              </a:ext>
            </a:extLst>
          </p:cNvPr>
          <p:cNvSpPr txBox="1"/>
          <p:nvPr/>
        </p:nvSpPr>
        <p:spPr>
          <a:xfrm>
            <a:off x="1188720" y="2647189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E2761"/>
                </a:solidFill>
                <a:latin typeface="Calibri"/>
              </a:defRPr>
            </a:pPr>
            <a:r>
              <a:t>Disentangle the mechanism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18FB47-9546-0311-95A4-AD858A37B48D}"/>
              </a:ext>
            </a:extLst>
          </p:cNvPr>
          <p:cNvSpPr txBox="1"/>
          <p:nvPr/>
        </p:nvSpPr>
        <p:spPr>
          <a:xfrm>
            <a:off x="1188720" y="2994661"/>
            <a:ext cx="7406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761"/>
                </a:solidFill>
                <a:latin typeface="Calibri"/>
              </a:defRPr>
            </a:pPr>
            <a:r>
              <a:rPr dirty="0"/>
              <a:t>Are researchers discovering new literatures through LLM suggestions (</a:t>
            </a:r>
            <a:r>
              <a:rPr dirty="0" err="1"/>
              <a:t>Algaba’s</a:t>
            </a:r>
            <a:r>
              <a:rPr dirty="0"/>
              <a:t> channel), or does LLM-assisted writing lower the cost of integrating sources they already knew about? Experimental or survey-based designs could separate these pathways.</a:t>
            </a:r>
          </a:p>
        </p:txBody>
      </p:sp>
    </p:spTree>
    <p:extLst>
      <p:ext uri="{BB962C8B-B14F-4D97-AF65-F5344CB8AC3E}">
        <p14:creationId xmlns:p14="http://schemas.microsoft.com/office/powerpoint/2010/main" val="2340358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8CB6F-E553-BF59-52E5-E61A9BE03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6AA504-C4CF-FBFA-4A0E-DEEFCE2D3198}"/>
              </a:ext>
            </a:extLst>
          </p:cNvPr>
          <p:cNvSpPr txBox="1"/>
          <p:nvPr/>
        </p:nvSpPr>
        <p:spPr>
          <a:xfrm>
            <a:off x="548640" y="274320"/>
            <a:ext cx="8046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E2761"/>
                </a:solidFill>
                <a:latin typeface="Georgia"/>
              </a:defRPr>
            </a:pPr>
            <a:r>
              <a:rPr lang="en-US" dirty="0"/>
              <a:t>Policy Implications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4380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2530</Words>
  <Application>Microsoft Macintosh PowerPoint</Application>
  <PresentationFormat>On-screen Show (16:9)</PresentationFormat>
  <Paragraphs>280</Paragraphs>
  <Slides>25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Impact of AI Adoption on Scientific Surprise in Academic Research</dc:title>
  <dc:subject>PptxGenJS Presentation</dc:subject>
  <dc:creator>Ben Heim &amp; Adam Tuchler</dc:creator>
  <cp:lastModifiedBy>Ben Heim</cp:lastModifiedBy>
  <cp:revision>13</cp:revision>
  <dcterms:created xsi:type="dcterms:W3CDTF">2026-03-09T20:36:29Z</dcterms:created>
  <dcterms:modified xsi:type="dcterms:W3CDTF">2026-03-12T17:01:29Z</dcterms:modified>
</cp:coreProperties>
</file>