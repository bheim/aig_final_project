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6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0665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Impact of AI Adoption on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Scientific Surprise in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Academic Research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 &amp;  Adam Tuchler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Chicago  |  March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9728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800" dirty="0"/>
          </a:p>
          <a:p>
            <a:pPr marL="0" indent="0">
              <a:spcAft>
                <a:spcPts val="600"/>
              </a:spcAft>
              <a:buNone/>
            </a:pP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with continuous treatment across 16 academic fields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intensity: GPT-3.5 marker word adoption (Kobak et al.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event: Release of GPT-4o (November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Shannon entropy of citation field distributions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67,008 papers from OpenAlex (Jan 2021 – Dec 2025)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AI Adoption: Propensity Scores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Kobak marker word frequency from pre- to post-ChatGPT (GPT-3.5) era</a:t>
            </a:r>
            <a:endParaRPr lang="en-US" sz="1200" dirty="0"/>
          </a:p>
        </p:txBody>
      </p:sp>
      <p:pic>
        <p:nvPicPr>
          <p:cNvPr id="6" name="Picture 5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7B4FDBCE-C421-9FCD-5321-9EC625DEE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72817"/>
            <a:ext cx="4256418" cy="36963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Marker Word Adoption Across Fields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pic>
        <p:nvPicPr>
          <p:cNvPr id="6" name="Picture 5" descr="A graph of a number of words&#10;&#10;AI-generated content may be incorrect.">
            <a:extLst>
              <a:ext uri="{FF2B5EF4-FFF2-40B4-BE49-F238E27FC236}">
                <a16:creationId xmlns:a16="http://schemas.microsoft.com/office/drawing/2014/main" id="{FF29420B-CA70-0430-F9F4-7647D9190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42" y="1143000"/>
            <a:ext cx="4380622" cy="38176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6" name="Picture 5" descr="A graph with red and blue dots&#10;&#10;AI-generated content may be incorrect.">
            <a:extLst>
              <a:ext uri="{FF2B5EF4-FFF2-40B4-BE49-F238E27FC236}">
                <a16:creationId xmlns:a16="http://schemas.microsoft.com/office/drawing/2014/main" id="{956A5036-349B-F4F9-07D9-A0175A449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74668"/>
            <a:ext cx="7265504" cy="35945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Robustness: Parallel Trends &amp; Within-Field Share</a:t>
            </a:r>
            <a:endParaRPr lang="en-US" sz="2400" dirty="0"/>
          </a:p>
        </p:txBody>
      </p:sp>
      <p:pic>
        <p:nvPicPr>
          <p:cNvPr id="3" name="Image 0" descr="/sessions/zen-sweet-johnson/mnt/aig-final-project/claude work/output/shannon-figures/fig10_parallel_trends.png"/>
          <p:cNvPicPr>
            <a:picLocks noChangeAspect="1"/>
          </p:cNvPicPr>
          <p:nvPr/>
        </p:nvPicPr>
        <p:blipFill>
          <a:blip/>
          <a:srcRect/>
          <a:stretch/>
        </p:blipFill>
        <p:spPr>
          <a:xfrm>
            <a:off x="182880" y="1005840"/>
            <a:ext cx="4114800" cy="2834640"/>
          </a:xfrm>
          <a:prstGeom prst="rect">
            <a:avLst/>
          </a:prstGeom>
        </p:spPr>
      </p:pic>
      <p:pic>
        <p:nvPicPr>
          <p:cNvPr id="4" name="Image 1" descr="/sessions/zen-sweet-johnson/mnt/aig-final-project/claude work/output/shannon-figures/fig08_within_field_share.png"/>
          <p:cNvPicPr>
            <a:picLocks noChangeAspect="1"/>
          </p:cNvPicPr>
          <p:nvPr/>
        </p:nvPicPr>
        <p:blipFill>
          <a:blip/>
          <a:srcRect/>
          <a:stretch/>
        </p:blipFill>
        <p:spPr>
          <a:xfrm>
            <a:off x="4846320" y="1005840"/>
            <a:ext cx="4114800" cy="2834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8288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trends pass (p = 0.56) in 18-month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with field FE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484632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Within-field citation share declines faster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high-propensity fields post-4o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Cross-Sectional Validation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higher AI propensity saw larger increases in citation diversity (r = 0.603)</a:t>
            </a:r>
            <a:endParaRPr lang="en-US" sz="1200" dirty="0"/>
          </a:p>
        </p:txBody>
      </p:sp>
      <p:pic>
        <p:nvPicPr>
          <p:cNvPr id="6" name="Picture 5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27CCC976-39C1-24E4-B0D8-25E04A0A3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12346"/>
            <a:ext cx="4564843" cy="35568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diversification is causal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increases by +0.030 nats/month in high-propensity fields post-4o (p = 0.005)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HHI, and within-field share all point the same direction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0233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9776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Complements existing literature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2976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(2026) find AI contracts topic diversity; we find it expands citation breadth — different margins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  |  bheim@uchicago.edu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305</Words>
  <Application>Microsoft Macintosh PowerPoint</Application>
  <PresentationFormat>On-screen Show (16:9)</PresentationFormat>
  <Paragraphs>49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AI Adoption on Scientific Surprise in Academic Research</dc:title>
  <dc:subject>PptxGenJS Presentation</dc:subject>
  <dc:creator>Ben Heim &amp; Adam Tuchler</dc:creator>
  <cp:lastModifiedBy>Ben Heim</cp:lastModifiedBy>
  <cp:revision>2</cp:revision>
  <dcterms:created xsi:type="dcterms:W3CDTF">2026-03-09T20:36:29Z</dcterms:created>
  <dcterms:modified xsi:type="dcterms:W3CDTF">2026-03-09T21:51:59Z</dcterms:modified>
</cp:coreProperties>
</file>