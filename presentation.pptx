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9" r:id="rId4"/>
    <p:sldId id="280" r:id="rId5"/>
    <p:sldId id="271" r:id="rId6"/>
    <p:sldId id="258" r:id="rId7"/>
    <p:sldId id="259" r:id="rId8"/>
    <p:sldId id="266" r:id="rId9"/>
    <p:sldId id="260" r:id="rId10"/>
    <p:sldId id="281" r:id="rId11"/>
    <p:sldId id="268" r:id="rId12"/>
    <p:sldId id="263" r:id="rId13"/>
    <p:sldId id="264" r:id="rId14"/>
    <p:sldId id="282" r:id="rId15"/>
    <p:sldId id="265" r:id="rId16"/>
    <p:sldId id="276" r:id="rId17"/>
    <p:sldId id="278" r:id="rId18"/>
    <p:sldId id="277" r:id="rId19"/>
    <p:sldId id="270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/>
    <p:restoredTop sz="94610"/>
  </p:normalViewPr>
  <p:slideViewPr>
    <p:cSldViewPr snapToGrid="0" snapToObjects="1">
      <p:cViewPr varScale="1">
        <p:scale>
          <a:sx n="179" d="100"/>
          <a:sy n="179" d="100"/>
        </p:scale>
        <p:origin x="216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66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51E4-C0A7-DCD2-79A6-AB11CC9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CFB11-0883-A181-AD81-8F0B3D1E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6912A-54A5-3C0B-8353-5A3145DE5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4A9AF-0955-3F10-0A17-0607B8264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18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D725-BA86-989C-869E-57758320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C6E73-1101-694E-C06E-89B54299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33531-D850-1565-7ABD-2FE8162E4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9A1A7-4A1B-C61E-202B-17850A7F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57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913B-F9CF-8391-3DD9-FC3A3A6D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6EEF30-1D37-7882-51B2-3B7D47673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5654-8E85-3817-E911-14F16C660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4A031-ACEE-7A5A-EA2B-ACC372D5D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946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DBD92-249C-809B-0ECF-EE409E7D0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B5783-2C2F-8BCE-A494-90D5582F7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63CA56-3EC8-C529-DE02-4F4061AB4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2F26D-048D-1297-34FF-87D78DDDF2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47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7D81-F787-7523-9152-98FF5D6B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147AA-0285-02DA-EBE7-26A3C8BCA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C2A48-2D29-07D7-5C9C-C1275BE9A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0817C-785D-4BE2-18C4-AAD6142934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51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91CD-2643-34C7-1439-A405972D6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B1228-4D12-148B-6A47-1E94E801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FB76C-A00D-CDA6-D6DF-3123EF0AB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3317C-4864-8F77-18F7-9C373181B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263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F7CD-CD0F-41D1-33FA-44491053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48C6B-C506-CFCD-E3D7-7D578B5EB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A6FCD-9384-9E3C-2A89-77EE7D55F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7004C-2500-EB38-DFB8-B658F2FE6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821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56E8-FF6C-195A-C002-2D94E53A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F981A-CCD0-20A5-8418-A489019B4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B3EACC-4871-F588-8D52-150999526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48514-76A1-3F48-DD80-ADBFD70CCA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30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35,080 papers from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 2023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F8D4-07CD-D024-EB59-27CD1AC8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1A6761-54A6-1169-EC75-392D36C0A38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A2DD70-66E9-425A-2DCB-CE470A36457B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755BA-0F75-EA38-6D68-A21B447A951B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4ECE7B-83C2-9088-8B5F-47BA230C4BE4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442149-647D-6CEF-1C78-C5AF772A0F0E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4A7EB09-9C31-2B34-1A5D-60CA8DE73CF7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9EB13A-14D5-C6B7-1F9E-36EEAC0E7DD5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F324AC7-B29B-F23A-947C-AAE2BBCFCEEE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ABD630-1FBD-D428-9A26-ED89CD406063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9F78731-344B-D7B2-CCCD-EB5833809CC4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BC696C4-2AA7-67C4-5113-B8BF99878557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47FFF7-1E10-728B-62A9-BBE1746C2F5E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40759A-3D8C-2056-491E-744149339F97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6AA1083-5CB3-807B-5FCF-D5DDBCD0E016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03353B4-4A7F-4673-36F7-3711D65FFD44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03762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37F8C-B694-6165-40F0-12ECB16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A561880-7414-6C61-EF99-04515C4ED5E3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</a:rPr>
              <a:t>Why ChatGPT 4o?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984D7D-D0DE-EF90-EC8B-64E2516493FC}"/>
              </a:ext>
            </a:extLst>
          </p:cNvPr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F4AF5-52F1-190E-84BB-3995AB931060}"/>
              </a:ext>
            </a:extLst>
          </p:cNvPr>
          <p:cNvSpPr txBox="1"/>
          <p:nvPr/>
        </p:nvSpPr>
        <p:spPr>
          <a:xfrm>
            <a:off x="5017249" y="1279087"/>
            <a:ext cx="320040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model release where frontier lab multimodal model access was available to any researcher for free.</a:t>
            </a:r>
          </a:p>
          <a:p>
            <a:endParaRPr lang="en-US" dirty="0"/>
          </a:p>
          <a:p>
            <a:r>
              <a:rPr lang="en-US" dirty="0"/>
              <a:t>Not the only model that fits these specifications but is a clean break in accessibility of high-quality models.</a:t>
            </a:r>
          </a:p>
        </p:txBody>
      </p:sp>
      <p:pic>
        <p:nvPicPr>
          <p:cNvPr id="1028" name="Picture 4" descr="OpenAI Releases World's Best AI for FREE (GPT-4o)">
            <a:extLst>
              <a:ext uri="{FF2B5EF4-FFF2-40B4-BE49-F238E27FC236}">
                <a16:creationId xmlns:a16="http://schemas.microsoft.com/office/drawing/2014/main" id="{929F69DE-C772-9C04-B41C-72FA9910E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70" y="1347936"/>
            <a:ext cx="4349930" cy="2447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581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7B4FDBCE-C421-9FCD-5321-9EC625DE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2817"/>
            <a:ext cx="4256418" cy="36963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5340B-B346-65B8-3C85-2FD4298C1908}"/>
              </a:ext>
            </a:extLst>
          </p:cNvPr>
          <p:cNvSpPr txBox="1"/>
          <p:nvPr/>
        </p:nvSpPr>
        <p:spPr>
          <a:xfrm>
            <a:off x="5251269" y="1172817"/>
            <a:ext cx="351652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Kobak measure examines frequency of style words commonly associated with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measure AI propensity by using (marker words per million 6 months after GPT 3.5 release – marker words per million before GPT 3.5 release)/(marker words per million before GPT 3.5 release)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Fields more amenable to LLM use like CS and Business see higher AI propensities whereas fields less amenable (math, medicine) see lower scores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Increases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6" name="Picture 5" descr="A graph of a number of words&#10;&#10;AI-generated content may be incorrect.">
            <a:extLst>
              <a:ext uri="{FF2B5EF4-FFF2-40B4-BE49-F238E27FC236}">
                <a16:creationId xmlns:a16="http://schemas.microsoft.com/office/drawing/2014/main" id="{FF29420B-CA70-0430-F9F4-7647D9190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42" y="1143000"/>
            <a:ext cx="4380622" cy="38176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D5384A-8C8C-16EC-9CFE-BFF0FA993212}"/>
              </a:ext>
            </a:extLst>
          </p:cNvPr>
          <p:cNvSpPr txBox="1"/>
          <p:nvPr/>
        </p:nvSpPr>
        <p:spPr>
          <a:xfrm>
            <a:off x="5355527" y="1276588"/>
            <a:ext cx="29503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 fields see an increase in LLM-associated words between the pre and post period.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NB: we always delay our treatment impact measurement 6 months after a model release – this is due to the period of time it takes between paper submission and publication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DA11F-8AF2-7B5C-D937-AF3C3715F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8421D-7C91-177A-4345-7E45A795F701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Shannon Entropy – Measuring Citation Diversity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252EFE-E90D-64C0-2DE0-5FDC0131F234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D6440AE-000F-D195-AB90-B94C8AAE0DB2}"/>
              </a:ext>
            </a:extLst>
          </p:cNvPr>
          <p:cNvSpPr/>
          <p:nvPr/>
        </p:nvSpPr>
        <p:spPr>
          <a:xfrm>
            <a:off x="1371600" y="1127284"/>
            <a:ext cx="6400800" cy="9144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80A3C-E8C7-EAB3-B2F1-E172B086DAB8}"/>
              </a:ext>
            </a:extLst>
          </p:cNvPr>
          <p:cNvSpPr txBox="1"/>
          <p:nvPr/>
        </p:nvSpPr>
        <p:spPr>
          <a:xfrm>
            <a:off x="2193131" y="12765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Hᵢ = –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pᵢ(g) · ln pᵢ(g)</a:t>
            </a:r>
            <a:endParaRPr lang="en-US" sz="18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2713AA-032E-27F1-8F78-9D0B575F72BE}"/>
              </a:ext>
            </a:extLst>
          </p:cNvPr>
          <p:cNvSpPr/>
          <p:nvPr/>
        </p:nvSpPr>
        <p:spPr>
          <a:xfrm>
            <a:off x="137160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pᵢ(g) = share of paper i's references classified in field g</a:t>
            </a:r>
            <a:endParaRPr lang="en-US" sz="13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A841FC-53F6-E467-4F0E-ECEDCBCBC400}"/>
              </a:ext>
            </a:extLst>
          </p:cNvPr>
          <p:cNvSpPr txBox="1"/>
          <p:nvPr/>
        </p:nvSpPr>
        <p:spPr>
          <a:xfrm>
            <a:off x="2193131" y="2386012"/>
            <a:ext cx="2178844" cy="1949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captures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We observe how each paper distributes its citations across </a:t>
            </a:r>
            <a:r>
              <a:rPr lang="en-US" sz="12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OpenAlex’s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 26 fields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Shannon entropy measures how spread out that distribution is (breadth and evenness)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9CFBC8-6782-EA4B-D815-C36DE0AF0C98}"/>
              </a:ext>
            </a:extLst>
          </p:cNvPr>
          <p:cNvSpPr txBox="1"/>
          <p:nvPr/>
        </p:nvSpPr>
        <p:spPr>
          <a:xfrm>
            <a:off x="4981576" y="2400299"/>
            <a:ext cx="217884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All citations in one field -&gt; H = 0 Nats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Equal citations across all fields -&gt; H = ln(26) 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3.26 (max diversity)</a:t>
            </a:r>
            <a:endParaRPr lang="en-US" sz="1200" dirty="0"/>
          </a:p>
          <a:p>
            <a:pPr>
              <a:spcAft>
                <a:spcPts val="400"/>
              </a:spcAft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836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C3B32C2-EBB8-15F1-F85A-63F4129EE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106FC-3D5E-4435-06BA-5D9B7755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7B6FD26-9110-5A0E-5085-F2380FF08A54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204844B-07C4-18E7-E9ED-F5B2C1CBEA81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CDFC2AD-0F49-5025-ABF7-8C3EE10C1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9501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E4CB8-4361-BD7E-1711-4CDA1AF3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EEB791-5D82-24EF-F90C-86EE465D152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460D0C-DCE0-2E11-15A5-BAB00E529197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CF3C56B1-DD4F-8D9D-C2DE-A96010370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106600"/>
              </p:ext>
            </p:extLst>
          </p:nvPr>
        </p:nvGraphicFramePr>
        <p:xfrm>
          <a:off x="548640" y="1143000"/>
          <a:ext cx="4603431" cy="3741908"/>
        </p:xfrm>
        <a:graphic>
          <a:graphicData uri="http://schemas.openxmlformats.org/drawingml/2006/table">
            <a:tbl>
              <a:tblPr/>
              <a:tblGrid>
                <a:gridCol w="1938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4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(1)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Jump  (β₁)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(0.068)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Trend (Monthly)  (β₂)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Num. 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institutions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Year-month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10D18474-5828-3FDE-3E5B-98A3D86AEE0D}"/>
              </a:ext>
            </a:extLst>
          </p:cNvPr>
          <p:cNvSpPr/>
          <p:nvPr/>
        </p:nvSpPr>
        <p:spPr>
          <a:xfrm>
            <a:off x="548640" y="4723447"/>
            <a:ext cx="39376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robust standard errors in parentheses.  *** p &lt; 0.01, ** p &lt; 0.05, * p &lt; 0.10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A4482-4657-DB34-8B63-7508565CBDD9}"/>
              </a:ext>
            </a:extLst>
          </p:cNvPr>
          <p:cNvSpPr txBox="1"/>
          <p:nvPr/>
        </p:nvSpPr>
        <p:spPr>
          <a:xfrm>
            <a:off x="5644991" y="1663809"/>
            <a:ext cx="295036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Both jump gradual trend are separately significant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Gradual trend better describes impact than singular-time jump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This makes sense as it takes time to adopt new models into a workflow</a:t>
            </a:r>
          </a:p>
        </p:txBody>
      </p:sp>
    </p:spTree>
    <p:extLst>
      <p:ext uri="{BB962C8B-B14F-4D97-AF65-F5344CB8AC3E}">
        <p14:creationId xmlns:p14="http://schemas.microsoft.com/office/powerpoint/2010/main" val="1988964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F6121816-9090-EE47-C5B1-B7E4FD801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EF667503-15CB-8109-2CB0-5E818CC3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0C15AB-CC55-CA2F-491B-C156BDF40D4F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3DA45-0CC0-5890-FED9-7B505FFBA9BF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within-field share of citations to drop more in high AI fields than in low AI fields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6" name="Picture 5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7CCC976-39C1-24E4-B0D8-25E04A0A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2346"/>
            <a:ext cx="4564843" cy="35568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12A203-9A47-F78D-2C5D-750F35AB8E2A}"/>
              </a:ext>
            </a:extLst>
          </p:cNvPr>
          <p:cNvSpPr txBox="1"/>
          <p:nvPr/>
        </p:nvSpPr>
        <p:spPr>
          <a:xfrm>
            <a:off x="5679281" y="1498084"/>
            <a:ext cx="260032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Dose-Response: Higher Propensity -&gt; Larger Entropy Gains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While no longer controlling for other variables, this offers a clean visualization of the effect we find in our regression specification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20BCB-0850-8987-BD63-108069F3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06C9B7-3E75-157B-B593-B07C9D42B4B5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F3DC64D-5488-155A-6A34-59E6CE12272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1F363B-647E-F5E7-5E54-FDBE03D219A5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EB521F5-57DB-8C2F-397F-142C8D5707F3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1F43183-911F-9262-7669-F52FF03286B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2112B2-4762-78DF-EE77-4E8AD6FD30EA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C7707E-C961-02F5-B9F1-75DB1A6CC951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5225761-B27F-6DFA-943B-3C4779FB860D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4CE876E-5EF3-D932-C931-AA0B8EE97130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87F7877-D289-4897-4713-5653B25868A7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125861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F8B4D-59F2-4D77-99C2-625C7CF3F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0450D5-3D51-B18C-1F4C-4B9A9CE57214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321C86-D5EC-D9AA-74E5-40044AD715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2D1B31-B060-9149-3253-29C485A39F8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2429FA-3072-CC50-E1A3-A1E6DB342E54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E81B62-90C1-BE4F-FB13-4D69BD60A3C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EDE72-319D-A947-6E12-4F751EB756A2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1F84BC-9B37-A0A6-6954-6229B79E62F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94ECD01-B14D-F45A-1981-14CBE91FD6D4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167CAB-FBEB-94FD-EBE5-619B2C62DC1E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DC89A1-5EB6-F1BC-D672-B15A4137F461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E88F62-1489-68C2-489D-8CA005B53AD7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E389D-B7DD-C732-B47E-4D3F7E530A84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AE8385B-B450-0AF6-716A-9AA3A5D2D40B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2304514-8068-D664-D0B5-CEF233C4CBF4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32410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323DF-F73E-73C8-ED03-ADE3BBAE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3884E1-EA25-66BB-D7E8-702E2351DEE9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1AC0B1-C8DB-8133-B709-786CE84206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AE4663-2783-282D-5B4C-1964528CD49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F29060-F554-DF50-3B22-DA5ADA16DF29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B80644-6101-89A2-DA26-4D5B01023908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+0.031 nats/month in high-propensity fields post-4o. This is a robust finding.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239DFF-2A49-53C8-6450-89495E6D1576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FB364C2-7EE0-8596-F287-696052348DA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8ACE3D1-402E-0BE3-422D-5D8E4907CDA5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0BEF4E-FCC6-DBDD-8701-93F0D586F723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04492E1-BF96-E02C-461D-68ECEF96F55A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A824BD-9369-0B4B-7819-14AFEC9D69B4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645505-5D25-92E7-5830-40E37DEF4ED8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59C799E-0C6C-323C-4BB6-108BB1D33D51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6EC8B2C-78F2-849A-66EC-326F3396AB90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633D03-77B6-2594-460B-8271162B5034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7B7BFED-8797-AF2E-127E-2983B893AE2C}"/>
              </a:ext>
            </a:extLst>
          </p:cNvPr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B156AA3-BE2D-7991-2643-1BFEC69EBF12}"/>
              </a:ext>
            </a:extLst>
          </p:cNvPr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knowledge extent; we find it expands citation breadth — different margins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F49AF6-9A5A-93C7-B5CB-2400820B899C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71334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rPr dirty="0"/>
              <a:t>Are researchers discovering new literatures through LLM suggestions (</a:t>
            </a:r>
            <a:r>
              <a:rPr dirty="0" err="1"/>
              <a:t>Algaba’s</a:t>
            </a:r>
            <a:r>
              <a:rPr dirty="0"/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1557</Words>
  <Application>Microsoft Macintosh PowerPoint</Application>
  <PresentationFormat>On-screen Show (16:9)</PresentationFormat>
  <Paragraphs>186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</cp:lastModifiedBy>
  <cp:revision>9</cp:revision>
  <dcterms:created xsi:type="dcterms:W3CDTF">2026-03-09T20:36:29Z</dcterms:created>
  <dcterms:modified xsi:type="dcterms:W3CDTF">2026-03-11T18:41:25Z</dcterms:modified>
</cp:coreProperties>
</file>